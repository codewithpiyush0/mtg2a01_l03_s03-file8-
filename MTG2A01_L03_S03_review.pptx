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h0jA8RqdhLUnph9OMzCFPOtuzU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EF8B4E-DD57-460E-B4C0-94002C50337D}">
  <a:tblStyle styleId="{B7EF8B4E-DD57-460E-B4C0-94002C50337D}"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7" name="Shape 327"/>
        <p:cNvGrpSpPr/>
        <p:nvPr/>
      </p:nvGrpSpPr>
      <p:grpSpPr>
        <a:xfrm>
          <a:off x="0" y="0"/>
          <a:ext cx="0" cy="0"/>
          <a:chOff x="0" y="0"/>
          <a:chExt cx="0" cy="0"/>
        </a:xfrm>
      </p:grpSpPr>
      <p:sp>
        <p:nvSpPr>
          <p:cNvPr id="328" name="Google Shape;328;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GB"/>
              <a:t>Dono enable honge (tens and ones).</a:t>
            </a:r>
            <a:endParaRPr/>
          </a:p>
          <a:p>
            <a:pPr indent="0" lvl="0" marL="0" rtl="0" algn="l">
              <a:spcBef>
                <a:spcPts val="0"/>
              </a:spcBef>
              <a:spcAft>
                <a:spcPts val="0"/>
              </a:spcAft>
              <a:buNone/>
            </a:pPr>
            <a:r>
              <a:rPr lang="en-GB"/>
              <a:t>Include third character, swiftee : </a:t>
            </a:r>
            <a:r>
              <a:rPr lang="en-GB"/>
              <a:t>distribute</a:t>
            </a:r>
            <a:r>
              <a:rPr lang="en-GB"/>
              <a:t> and then total </a:t>
            </a:r>
            <a:endParaRPr/>
          </a:p>
        </p:txBody>
      </p:sp>
      <p:sp>
        <p:nvSpPr>
          <p:cNvPr id="329" name="Google Shape;329;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3"/>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3"/>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4"/>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4"/>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8"/>
          <p:cNvSpPr/>
          <p:nvPr>
            <p:ph idx="2" type="pic"/>
          </p:nvPr>
        </p:nvSpPr>
        <p:spPr>
          <a:xfrm>
            <a:off x="1792288" y="612775"/>
            <a:ext cx="5486400" cy="4114800"/>
          </a:xfrm>
          <a:prstGeom prst="rect">
            <a:avLst/>
          </a:prstGeom>
          <a:noFill/>
          <a:ln>
            <a:noFill/>
          </a:ln>
        </p:spPr>
      </p:sp>
      <p:sp>
        <p:nvSpPr>
          <p:cNvPr id="64" name="Google Shape;64;p2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7.png"/><Relationship Id="rId5"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2.png"/><Relationship Id="rId9" Type="http://schemas.openxmlformats.org/officeDocument/2006/relationships/image" Target="../media/image4.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3.png"/><Relationship Id="rId5"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5.png"/><Relationship Id="rId4" Type="http://schemas.openxmlformats.org/officeDocument/2006/relationships/image" Target="../media/image13.png"/><Relationship Id="rId5"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13.png"/><Relationship Id="rId5"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2.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731520" y="2377440"/>
            <a:ext cx="10728655" cy="20116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GB" sz="4000" u="none" cap="none" strike="noStrike">
                <a:solidFill>
                  <a:srgbClr val="0B3D8C"/>
                </a:solidFill>
                <a:latin typeface="Calibri"/>
                <a:ea typeface="Calibri"/>
                <a:cs typeface="Calibri"/>
                <a:sym typeface="Calibri"/>
              </a:rPr>
              <a:t>MTG2A01_L03_S03 — ऊपर-नीचे लिखकर जोड़ (Adds vertically without regrouping)</a:t>
            </a:r>
            <a:endParaRPr/>
          </a:p>
          <a:p>
            <a:pPr indent="0" lvl="0" marL="0" marR="0" rtl="0" algn="ctr">
              <a:spcBef>
                <a:spcPts val="0"/>
              </a:spcBef>
              <a:spcAft>
                <a:spcPts val="0"/>
              </a:spcAft>
              <a:buNone/>
            </a:pPr>
            <a:r>
              <a:rPr b="0" i="0" lang="en-GB" sz="1800" u="none" cap="none" strike="noStrike">
                <a:solidFill>
                  <a:srgbClr val="5A6678"/>
                </a:solidFill>
                <a:latin typeface="Calibri"/>
                <a:ea typeface="Calibri"/>
                <a:cs typeface="Calibri"/>
                <a:sym typeface="Calibri"/>
              </a:rPr>
              <a:t>Page-by-page review · 14 pages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640080" y="457200"/>
            <a:ext cx="10911535"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GB" sz="2800" u="none" cap="none" strike="noStrike">
                <a:solidFill>
                  <a:srgbClr val="0B3D8C"/>
                </a:solidFill>
                <a:latin typeface="Calibri"/>
                <a:ea typeface="Calibri"/>
                <a:cs typeface="Calibri"/>
                <a:sym typeface="Calibri"/>
              </a:rPr>
              <a:t>Overall recommendations &amp; open questions</a:t>
            </a:r>
            <a:endParaRPr/>
          </a:p>
        </p:txBody>
      </p:sp>
      <p:sp>
        <p:nvSpPr>
          <p:cNvPr id="90" name="Google Shape;90;p2"/>
          <p:cNvSpPr txBox="1"/>
          <p:nvPr/>
        </p:nvSpPr>
        <p:spPr>
          <a:xfrm>
            <a:off x="822960" y="1463040"/>
            <a:ext cx="10545775" cy="4937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700">
                <a:solidFill>
                  <a:srgbClr val="1B2A44"/>
                </a:solidFill>
                <a:latin typeface="Calibri"/>
                <a:ea typeface="Calibri"/>
                <a:cs typeface="Calibri"/>
                <a:sym typeface="Calibri"/>
              </a:rPr>
              <a:t>• WHAT IT TEACHES — adding two 2-digit numbers written ONE UNDER THE OTHER, without regrouping: ones column first, then tens.</a:t>
            </a:r>
            <a:endParaRPr/>
          </a:p>
          <a:p>
            <a:pPr indent="0" lvl="0" marL="0" marR="0" rtl="0" algn="l">
              <a:spcBef>
                <a:spcPts val="800"/>
              </a:spcBef>
              <a:spcAft>
                <a:spcPts val="0"/>
              </a:spcAft>
              <a:buNone/>
            </a:pPr>
            <a:r>
              <a:rPr lang="en-GB" sz="1700">
                <a:solidFill>
                  <a:srgbClr val="1B2A44"/>
                </a:solidFill>
                <a:latin typeface="Calibri"/>
                <a:ea typeface="Calibri"/>
                <a:cs typeface="Calibri"/>
                <a:sym typeface="Calibri"/>
              </a:rPr>
              <a:t>• VERTICAL ONLY (your direction, 2026-10-15) — no screen shows a flat 'a + b = ?': not the landing, not the story, not the questions, not even a '3 + 4 = 7' bubble. The build refuses to compile if a horizontal screen is added back.</a:t>
            </a:r>
            <a:endParaRPr/>
          </a:p>
          <a:p>
            <a:pPr indent="0" lvl="0" marL="0" marR="0" rtl="0" algn="l">
              <a:spcBef>
                <a:spcPts val="800"/>
              </a:spcBef>
              <a:spcAft>
                <a:spcPts val="0"/>
              </a:spcAft>
              <a:buNone/>
            </a:pPr>
            <a:r>
              <a:rPr lang="en-GB" sz="1700">
                <a:solidFill>
                  <a:srgbClr val="1B2A44"/>
                </a:solidFill>
                <a:latin typeface="Calibri"/>
                <a:ea typeface="Calibri"/>
                <a:cs typeface="Calibri"/>
                <a:sym typeface="Calibri"/>
              </a:rPr>
              <a:t>• THE BLOCKS ARE STACKED TOO — first number's table, '+' the second number's table below it, the answer table at the bottom; each table's digits sit beside it, row-aligned, so blocks and written column are one picture. The child moves the ONES down first and writes that digit, then the TENS.</a:t>
            </a:r>
            <a:endParaRPr/>
          </a:p>
          <a:p>
            <a:pPr indent="0" lvl="0" marL="0" marR="0" rtl="0" algn="l">
              <a:spcBef>
                <a:spcPts val="800"/>
              </a:spcBef>
              <a:spcAft>
                <a:spcPts val="0"/>
              </a:spcAft>
              <a:buNone/>
            </a:pPr>
            <a:r>
              <a:rPr lang="en-GB" sz="1700">
                <a:solidFill>
                  <a:srgbClr val="1B2A44"/>
                </a:solidFill>
                <a:latin typeface="Calibri"/>
                <a:ea typeface="Calibri"/>
                <a:cs typeface="Calibri"/>
                <a:sym typeface="Calibri"/>
              </a:rPr>
              <a:t>• THE FLOW — teach: story → stacked blocks (23 + 14 = 37, plays itself) → the same sum as digits only → one more digits only. Guided: stacked blocks (34 + 25) → the SAME numbers digits only → stacked blocks again. Practice alternates digits-only and stacked blocks; the game (36 + 43) is digits only.</a:t>
            </a:r>
            <a:endParaRPr/>
          </a:p>
          <a:p>
            <a:pPr indent="0" lvl="0" marL="0" marR="0" rtl="0" algn="l">
              <a:spcBef>
                <a:spcPts val="800"/>
              </a:spcBef>
              <a:spcAft>
                <a:spcPts val="0"/>
              </a:spcAft>
              <a:buNone/>
            </a:pPr>
            <a:r>
              <a:rPr lang="en-GB" sz="1700">
                <a:solidFill>
                  <a:srgbClr val="1B2A44"/>
                </a:solidFill>
                <a:latin typeface="Calibri"/>
                <a:ea typeface="Calibri"/>
                <a:cs typeface="Calibri"/>
                <a:sym typeface="Calibri"/>
              </a:rPr>
              <a:t>• BUILT ON YOUR LIVE GAMES' ENGINE — same courtyard, children, NCERT blocks, voice, and the same block movements as mtg2a01-l03-s01/-s02. Two screen types were added (stacked blocks; digits-only column) because no existing screen could draw a vertical sum.</a:t>
            </a:r>
            <a:endParaRPr/>
          </a:p>
          <a:p>
            <a:pPr indent="0" lvl="0" marL="0" marR="0" rtl="0" algn="l">
              <a:spcBef>
                <a:spcPts val="800"/>
              </a:spcBef>
              <a:spcAft>
                <a:spcPts val="0"/>
              </a:spcAft>
              <a:buNone/>
            </a:pPr>
            <a:r>
              <a:rPr lang="en-GB" sz="1700">
                <a:solidFill>
                  <a:srgbClr val="1B2A44"/>
                </a:solidFill>
                <a:latin typeface="Calibri"/>
                <a:ea typeface="Calibri"/>
                <a:cs typeface="Calibri"/>
                <a:sym typeface="Calibri"/>
              </a:rPr>
              <a:t>• PLAYED END TO END WITH ITS REAL VOICE — landing to celebration in 5m 10s, 0 console errors; 8 column answers, all phase and completion signals fired. Wrong digits were tested by hand: try again → the column's blocks light + the count is said → the right key glows.</a:t>
            </a:r>
            <a:endParaRPr/>
          </a:p>
          <a:p>
            <a:pPr indent="0" lvl="0" marL="0" marR="0" rtl="0" algn="l">
              <a:spcBef>
                <a:spcPts val="800"/>
              </a:spcBef>
              <a:spcAft>
                <a:spcPts val="0"/>
              </a:spcAft>
              <a:buNone/>
            </a:pPr>
            <a:r>
              <a:rPr lang="en-GB" sz="1700">
                <a:solidFill>
                  <a:srgbClr val="1B2A44"/>
                </a:solidFill>
                <a:latin typeface="Calibri"/>
                <a:ea typeface="Calibri"/>
                <a:cs typeface="Calibri"/>
                <a:sym typeface="Calibri"/>
              </a:rPr>
              <a:t>• ❓ FOR YOU — (1) the term 'ऊपर-नीचे लिखकर जोड़' vs 'खड़ी जोड़' / 'स्तंभ में जोड़'; (2) the moved blocks stay as grey ghosts in the top tables — keep (shows where they came from) or clear?</a:t>
            </a:r>
            <a:endParaRPr/>
          </a:p>
          <a:p>
            <a:pPr indent="0" lvl="0" marL="0" marR="0" rtl="0" algn="l">
              <a:spcBef>
                <a:spcPts val="800"/>
              </a:spcBef>
              <a:spcAft>
                <a:spcPts val="0"/>
              </a:spcAft>
              <a:buNone/>
            </a:pPr>
            <a:r>
              <a:rPr lang="en-GB" sz="1700">
                <a:solidFill>
                  <a:srgbClr val="1B2A44"/>
                </a:solidFill>
                <a:latin typeface="Calibri"/>
                <a:ea typeface="Calibri"/>
                <a:cs typeface="Calibri"/>
                <a:sym typeface="Calibri"/>
              </a:rPr>
              <a:t>• कान से जाँचें / EAR-CHECK — all 116 lines are machine TTS (voice Kore). Listen first to: vo_landing (came out in a DIFFERENT voice, Aoede — the very first thing a child hears), vo_t4_total and vo_p3_prompt (recovered through the TTS fallback; timbre may differ).</a:t>
            </a:r>
            <a:endParaRPr/>
          </a:p>
          <a:p>
            <a:pPr indent="0" lvl="0" marL="0" marR="0" rtl="0" algn="l">
              <a:spcBef>
                <a:spcPts val="800"/>
              </a:spcBef>
              <a:spcAft>
                <a:spcPts val="0"/>
              </a:spcAft>
              <a:buNone/>
            </a:pPr>
            <a:r>
              <a:rPr lang="en-GB" sz="1700">
                <a:solidFill>
                  <a:srgbClr val="1B2A44"/>
                </a:solidFill>
                <a:latin typeface="Calibri"/>
                <a:ea typeface="Calibri"/>
                <a:cs typeface="Calibri"/>
                <a:sym typeface="Calibri"/>
              </a:rPr>
              <a:t>• REGISTER — polite आप throughout (जोड़िए, लिखिए, ले जाइए, गिनिए). Shown text equals spoken text.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1 · 01_landing.png</a:t>
            </a:r>
            <a:endParaRPr/>
          </a:p>
        </p:txBody>
      </p:sp>
      <p:pic>
        <p:nvPicPr>
          <p:cNvPr descr="01_landing.png" id="96" name="Google Shape;96;p3"/>
          <p:cNvPicPr preferRelativeResize="0"/>
          <p:nvPr/>
        </p:nvPicPr>
        <p:blipFill rotWithShape="1">
          <a:blip r:embed="rId3">
            <a:alphaModFix/>
          </a:blip>
          <a:srcRect b="0" l="0" r="0" t="0"/>
          <a:stretch/>
        </p:blipFill>
        <p:spPr>
          <a:xfrm>
            <a:off x="365760" y="731520"/>
            <a:ext cx="7680960" cy="3866341"/>
          </a:xfrm>
          <a:prstGeom prst="rect">
            <a:avLst/>
          </a:prstGeom>
          <a:noFill/>
          <a:ln>
            <a:noFill/>
          </a:ln>
        </p:spPr>
      </p:pic>
      <p:sp>
        <p:nvSpPr>
          <p:cNvPr id="97" name="Google Shape;97;p3"/>
          <p:cNvSpPr txBox="1"/>
          <p:nvPr/>
        </p:nvSpPr>
        <p:spPr>
          <a:xfrm>
            <a:off x="8229600" y="731520"/>
            <a:ext cx="3596335" cy="187743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2000">
                <a:solidFill>
                  <a:srgbClr val="0B3D8C"/>
                </a:solidFill>
                <a:latin typeface="Calibri"/>
                <a:ea typeface="Calibri"/>
                <a:cs typeface="Calibri"/>
                <a:sym typeface="Calibri"/>
              </a:rPr>
              <a:t>Recommendations</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GB" sz="1600">
                <a:solidFill>
                  <a:schemeClr val="dk1"/>
                </a:solidFill>
                <a:latin typeface="Calibri"/>
                <a:ea typeface="Calibri"/>
                <a:cs typeface="Calibri"/>
                <a:sym typeface="Calibri"/>
              </a:rPr>
              <a:t>Text: संख्याओं का जोड़।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600">
                <a:solidFill>
                  <a:schemeClr val="dk1"/>
                </a:solidFill>
                <a:latin typeface="Calibri"/>
                <a:ea typeface="Calibri"/>
                <a:cs typeface="Calibri"/>
                <a:sym typeface="Calibri"/>
              </a:rPr>
              <a:t>23 + 14 = ?</a:t>
            </a:r>
            <a:r>
              <a:rPr lang="en-GB" sz="1600">
                <a:solidFill>
                  <a:schemeClr val="dk1"/>
                </a:solidFill>
                <a:latin typeface="Calibri"/>
                <a:ea typeface="Calibri"/>
                <a:cs typeface="Calibri"/>
                <a:sym typeface="Calibri"/>
              </a:rPr>
              <a:t> </a:t>
            </a:r>
            <a:endParaRPr i="1" sz="16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600">
                <a:solidFill>
                  <a:schemeClr val="dk1"/>
                </a:solidFill>
                <a:latin typeface="Calibri"/>
                <a:ea typeface="Calibri"/>
                <a:cs typeface="Calibri"/>
                <a:sym typeface="Calibri"/>
              </a:rPr>
              <a:t>VO:</a:t>
            </a:r>
            <a:r>
              <a:rPr lang="en-GB" sz="1600">
                <a:solidFill>
                  <a:schemeClr val="dk1"/>
                </a:solidFill>
                <a:latin typeface="Calibri"/>
                <a:ea typeface="Calibri"/>
                <a:cs typeface="Calibri"/>
                <a:sym typeface="Calibri"/>
              </a:rPr>
              <a:t> नमस्ते दोस्त! मैं हूँ स्विफ्टी! आज हम संख्याओं को जोड़ना सीखेंगे।</a:t>
            </a:r>
            <a:endParaRPr sz="1600">
              <a:solidFill>
                <a:schemeClr val="dk1"/>
              </a:solidFill>
              <a:latin typeface="Calibri"/>
              <a:ea typeface="Calibri"/>
              <a:cs typeface="Calibri"/>
              <a:sym typeface="Calibri"/>
            </a:endParaRPr>
          </a:p>
        </p:txBody>
      </p:sp>
      <p:sp>
        <p:nvSpPr>
          <p:cNvPr id="98" name="Google Shape;98;p3"/>
          <p:cNvSpPr txBox="1"/>
          <p:nvPr/>
        </p:nvSpPr>
        <p:spPr>
          <a:xfrm>
            <a:off x="2981739" y="1979874"/>
            <a:ext cx="1272209" cy="169277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rgbClr val="FFFFFF"/>
                </a:solidFill>
                <a:latin typeface="Calibri"/>
                <a:ea typeface="Calibri"/>
                <a:cs typeface="Calibri"/>
                <a:sym typeface="Calibri"/>
              </a:rPr>
              <a:t>  </a:t>
            </a:r>
            <a:r>
              <a:rPr b="1" lang="en-GB" sz="4000">
                <a:solidFill>
                  <a:srgbClr val="FFFFFF"/>
                </a:solidFill>
                <a:latin typeface="Calibri"/>
                <a:ea typeface="Calibri"/>
                <a:cs typeface="Calibri"/>
                <a:sym typeface="Calibri"/>
              </a:rPr>
              <a:t> </a:t>
            </a:r>
            <a:r>
              <a:rPr b="1" lang="en-GB" sz="3200">
                <a:solidFill>
                  <a:srgbClr val="FFFFFF"/>
                </a:solidFill>
                <a:latin typeface="Calibri"/>
                <a:ea typeface="Calibri"/>
                <a:cs typeface="Calibri"/>
                <a:sym typeface="Calibri"/>
              </a:rPr>
              <a:t> 23 </a:t>
            </a:r>
            <a:endParaRPr/>
          </a:p>
          <a:p>
            <a:pPr indent="0" lvl="0" marL="0" marR="0" rtl="0" algn="l">
              <a:spcBef>
                <a:spcPts val="0"/>
              </a:spcBef>
              <a:spcAft>
                <a:spcPts val="0"/>
              </a:spcAft>
              <a:buNone/>
            </a:pPr>
            <a:r>
              <a:rPr b="1" lang="en-GB" sz="3200" u="sng">
                <a:solidFill>
                  <a:srgbClr val="FFFFFF"/>
                </a:solidFill>
                <a:latin typeface="Calibri"/>
                <a:ea typeface="Calibri"/>
                <a:cs typeface="Calibri"/>
                <a:sym typeface="Calibri"/>
              </a:rPr>
              <a:t>+  14</a:t>
            </a:r>
            <a:endParaRPr/>
          </a:p>
          <a:p>
            <a:pPr indent="0" lvl="0" marL="0" marR="0" rtl="0" algn="l">
              <a:spcBef>
                <a:spcPts val="0"/>
              </a:spcBef>
              <a:spcAft>
                <a:spcPts val="0"/>
              </a:spcAft>
              <a:buNone/>
            </a:pPr>
            <a:r>
              <a:rPr b="1" lang="en-GB" sz="3200" u="sng">
                <a:solidFill>
                  <a:srgbClr val="FFFFFF"/>
                </a:solidFill>
                <a:latin typeface="Calibri"/>
                <a:ea typeface="Calibri"/>
                <a:cs typeface="Calibri"/>
                <a:sym typeface="Calibri"/>
              </a:rPr>
              <a:t>__?_</a:t>
            </a:r>
            <a:r>
              <a:rPr b="1" lang="en-GB" sz="3200">
                <a:solidFill>
                  <a:srgbClr val="FFFFFF"/>
                </a:solidFill>
                <a:latin typeface="Calibri"/>
                <a:ea typeface="Calibri"/>
                <a:cs typeface="Calibri"/>
                <a:sym typeface="Calibri"/>
              </a:rPr>
              <a:t>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4"/>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2 · 02_T1_STORY.png</a:t>
            </a:r>
            <a:endParaRPr/>
          </a:p>
        </p:txBody>
      </p:sp>
      <p:sp>
        <p:nvSpPr>
          <p:cNvPr id="104" name="Google Shape;104;p4"/>
          <p:cNvSpPr txBox="1"/>
          <p:nvPr/>
        </p:nvSpPr>
        <p:spPr>
          <a:xfrm>
            <a:off x="8229600" y="731520"/>
            <a:ext cx="3596335" cy="493981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Replace the entire slide content with the following:</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Heading Text: कुल कितने ब्लॉक्स?</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Visuals: Akash and Moni with blocks and number of blocks.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br>
              <a:rPr lang="en-GB"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VO: आकाश और मोनी ब्लॉक्स से खेल रहे है, और ये सारे ब्लॉकस मिलाकर एक ऊँची बिल्डिंग बना रहे हैं। आकाश के पास 23 ब्लॉक्स हैं और मोनी के पास 14 ब्लॉक्स हैं। चलिए, पता करते हैं, दोनों के पास मिलाकर कुल कितने ब्लॉक्स हैं?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br>
              <a:rPr lang="en-GB" sz="1400">
                <a:solidFill>
                  <a:schemeClr val="dk1"/>
                </a:solidFill>
                <a:latin typeface="Calibri"/>
                <a:ea typeface="Calibri"/>
                <a:cs typeface="Calibri"/>
                <a:sym typeface="Calibri"/>
              </a:rPr>
            </a:br>
            <a:r>
              <a:rPr lang="en-GB" sz="1400">
                <a:solidFill>
                  <a:schemeClr val="dk1"/>
                </a:solidFill>
                <a:latin typeface="Calibri"/>
                <a:ea typeface="Calibri"/>
                <a:cs typeface="Calibri"/>
                <a:sym typeface="Calibri"/>
              </a:rPr>
              <a:t>Everything will appear with the sync VO.</a:t>
            </a:r>
            <a:br>
              <a:rPr lang="en-GB" sz="1400">
                <a:solidFill>
                  <a:schemeClr val="dk1"/>
                </a:solidFill>
                <a:latin typeface="Calibri"/>
                <a:ea typeface="Calibri"/>
                <a:cs typeface="Calibri"/>
                <a:sym typeface="Calibri"/>
              </a:rPr>
            </a:br>
            <a:endParaRPr sz="1300">
              <a:solidFill>
                <a:srgbClr val="1B2A44"/>
              </a:solidFill>
              <a:latin typeface="Calibri"/>
              <a:ea typeface="Calibri"/>
              <a:cs typeface="Calibri"/>
              <a:sym typeface="Calibri"/>
            </a:endParaRPr>
          </a:p>
        </p:txBody>
      </p:sp>
      <p:grpSp>
        <p:nvGrpSpPr>
          <p:cNvPr id="105" name="Google Shape;105;p4"/>
          <p:cNvGrpSpPr/>
          <p:nvPr/>
        </p:nvGrpSpPr>
        <p:grpSpPr>
          <a:xfrm>
            <a:off x="177623" y="521429"/>
            <a:ext cx="2336484" cy="1281897"/>
            <a:chOff x="406716" y="685799"/>
            <a:chExt cx="6649304" cy="3691131"/>
          </a:xfrm>
        </p:grpSpPr>
        <p:pic>
          <p:nvPicPr>
            <p:cNvPr id="106" name="Google Shape;106;p4"/>
            <p:cNvPicPr preferRelativeResize="0"/>
            <p:nvPr/>
          </p:nvPicPr>
          <p:blipFill rotWithShape="1">
            <a:blip r:embed="rId3">
              <a:alphaModFix/>
            </a:blip>
            <a:srcRect b="0" l="0" r="0" t="0"/>
            <a:stretch/>
          </p:blipFill>
          <p:spPr>
            <a:xfrm>
              <a:off x="406716" y="685799"/>
              <a:ext cx="6649304" cy="3691131"/>
            </a:xfrm>
            <a:prstGeom prst="rect">
              <a:avLst/>
            </a:prstGeom>
            <a:noFill/>
            <a:ln>
              <a:noFill/>
            </a:ln>
          </p:spPr>
        </p:pic>
        <p:pic>
          <p:nvPicPr>
            <p:cNvPr id="107" name="Google Shape;107;p4"/>
            <p:cNvPicPr preferRelativeResize="0"/>
            <p:nvPr/>
          </p:nvPicPr>
          <p:blipFill rotWithShape="1">
            <a:blip r:embed="rId4">
              <a:alphaModFix/>
            </a:blip>
            <a:srcRect b="0" l="0" r="0" t="0"/>
            <a:stretch/>
          </p:blipFill>
          <p:spPr>
            <a:xfrm>
              <a:off x="2985209" y="1409508"/>
              <a:ext cx="644953" cy="1121856"/>
            </a:xfrm>
            <a:prstGeom prst="rect">
              <a:avLst/>
            </a:prstGeom>
            <a:noFill/>
            <a:ln>
              <a:noFill/>
            </a:ln>
          </p:spPr>
        </p:pic>
        <p:pic>
          <p:nvPicPr>
            <p:cNvPr id="108" name="Google Shape;108;p4"/>
            <p:cNvPicPr preferRelativeResize="0"/>
            <p:nvPr/>
          </p:nvPicPr>
          <p:blipFill rotWithShape="1">
            <a:blip r:embed="rId5">
              <a:alphaModFix/>
            </a:blip>
            <a:srcRect b="0" l="0" r="0" t="0"/>
            <a:stretch/>
          </p:blipFill>
          <p:spPr>
            <a:xfrm>
              <a:off x="4287265" y="1409508"/>
              <a:ext cx="1576552" cy="1030821"/>
            </a:xfrm>
            <a:prstGeom prst="rect">
              <a:avLst/>
            </a:prstGeom>
            <a:noFill/>
            <a:ln>
              <a:noFill/>
            </a:ln>
          </p:spPr>
        </p:pic>
        <p:sp>
          <p:nvSpPr>
            <p:cNvPr id="109" name="Google Shape;109;p4"/>
            <p:cNvSpPr txBox="1"/>
            <p:nvPr/>
          </p:nvSpPr>
          <p:spPr>
            <a:xfrm>
              <a:off x="3079401" y="2551781"/>
              <a:ext cx="828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23</a:t>
              </a:r>
              <a:endParaRPr sz="2800">
                <a:solidFill>
                  <a:schemeClr val="dk1"/>
                </a:solidFill>
                <a:latin typeface="Calibri"/>
                <a:ea typeface="Calibri"/>
                <a:cs typeface="Calibri"/>
                <a:sym typeface="Calibri"/>
              </a:endParaRPr>
            </a:p>
          </p:txBody>
        </p:sp>
        <p:sp>
          <p:nvSpPr>
            <p:cNvPr id="110" name="Google Shape;110;p4"/>
            <p:cNvSpPr txBox="1"/>
            <p:nvPr/>
          </p:nvSpPr>
          <p:spPr>
            <a:xfrm>
              <a:off x="5359741" y="2556784"/>
              <a:ext cx="828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14</a:t>
              </a:r>
              <a:endParaRPr sz="2800">
                <a:solidFill>
                  <a:schemeClr val="dk1"/>
                </a:solidFill>
                <a:latin typeface="Calibri"/>
                <a:ea typeface="Calibri"/>
                <a:cs typeface="Calibri"/>
                <a:sym typeface="Calibri"/>
              </a:endParaRPr>
            </a:p>
          </p:txBody>
        </p:sp>
      </p:grpSp>
      <p:pic>
        <p:nvPicPr>
          <p:cNvPr id="111" name="Google Shape;111;p4"/>
          <p:cNvPicPr preferRelativeResize="0"/>
          <p:nvPr/>
        </p:nvPicPr>
        <p:blipFill rotWithShape="1">
          <a:blip r:embed="rId3">
            <a:alphaModFix/>
          </a:blip>
          <a:srcRect b="0" l="0" r="0" t="0"/>
          <a:stretch/>
        </p:blipFill>
        <p:spPr>
          <a:xfrm>
            <a:off x="700217" y="2304356"/>
            <a:ext cx="6649304" cy="3691131"/>
          </a:xfrm>
          <a:prstGeom prst="rect">
            <a:avLst/>
          </a:prstGeom>
          <a:noFill/>
          <a:ln>
            <a:noFill/>
          </a:ln>
        </p:spPr>
      </p:pic>
      <p:pic>
        <p:nvPicPr>
          <p:cNvPr id="112" name="Google Shape;112;p4"/>
          <p:cNvPicPr preferRelativeResize="0"/>
          <p:nvPr/>
        </p:nvPicPr>
        <p:blipFill rotWithShape="1">
          <a:blip r:embed="rId4">
            <a:alphaModFix/>
          </a:blip>
          <a:srcRect b="0" l="0" r="0" t="0"/>
          <a:stretch/>
        </p:blipFill>
        <p:spPr>
          <a:xfrm>
            <a:off x="3557975" y="2937030"/>
            <a:ext cx="602284" cy="1047636"/>
          </a:xfrm>
          <a:prstGeom prst="rect">
            <a:avLst/>
          </a:prstGeom>
          <a:noFill/>
          <a:ln>
            <a:noFill/>
          </a:ln>
        </p:spPr>
      </p:pic>
      <p:pic>
        <p:nvPicPr>
          <p:cNvPr id="113" name="Google Shape;113;p4"/>
          <p:cNvPicPr preferRelativeResize="0"/>
          <p:nvPr/>
        </p:nvPicPr>
        <p:blipFill rotWithShape="1">
          <a:blip r:embed="rId5">
            <a:alphaModFix/>
          </a:blip>
          <a:srcRect b="0" l="0" r="0" t="0"/>
          <a:stretch/>
        </p:blipFill>
        <p:spPr>
          <a:xfrm>
            <a:off x="2487055" y="4077684"/>
            <a:ext cx="1475346" cy="964648"/>
          </a:xfrm>
          <a:prstGeom prst="rect">
            <a:avLst/>
          </a:prstGeom>
          <a:noFill/>
          <a:ln>
            <a:noFill/>
          </a:ln>
        </p:spPr>
      </p:pic>
      <p:sp>
        <p:nvSpPr>
          <p:cNvPr id="114" name="Google Shape;114;p4"/>
          <p:cNvSpPr txBox="1"/>
          <p:nvPr/>
        </p:nvSpPr>
        <p:spPr>
          <a:xfrm>
            <a:off x="4735977" y="3365257"/>
            <a:ext cx="828128"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chemeClr val="dk1"/>
                </a:solidFill>
                <a:latin typeface="Calibri"/>
                <a:ea typeface="Calibri"/>
                <a:cs typeface="Calibri"/>
                <a:sym typeface="Calibri"/>
              </a:rPr>
              <a:t>2</a:t>
            </a:r>
            <a:r>
              <a:rPr lang="en-GB" sz="2400">
                <a:solidFill>
                  <a:schemeClr val="dk1"/>
                </a:solidFill>
                <a:latin typeface="Calibri"/>
                <a:ea typeface="Calibri"/>
                <a:cs typeface="Calibri"/>
                <a:sym typeface="Calibri"/>
              </a:rPr>
              <a:t> </a:t>
            </a:r>
            <a:r>
              <a:rPr lang="en-GB" sz="3600">
                <a:solidFill>
                  <a:schemeClr val="dk1"/>
                </a:solidFill>
                <a:latin typeface="Calibri"/>
                <a:ea typeface="Calibri"/>
                <a:cs typeface="Calibri"/>
                <a:sym typeface="Calibri"/>
              </a:rPr>
              <a:t>3</a:t>
            </a:r>
            <a:endParaRPr sz="3600">
              <a:solidFill>
                <a:schemeClr val="dk1"/>
              </a:solidFill>
              <a:latin typeface="Calibri"/>
              <a:ea typeface="Calibri"/>
              <a:cs typeface="Calibri"/>
              <a:sym typeface="Calibri"/>
            </a:endParaRPr>
          </a:p>
        </p:txBody>
      </p:sp>
      <p:sp>
        <p:nvSpPr>
          <p:cNvPr id="115" name="Google Shape;115;p4"/>
          <p:cNvSpPr txBox="1"/>
          <p:nvPr/>
        </p:nvSpPr>
        <p:spPr>
          <a:xfrm>
            <a:off x="4432093" y="4440318"/>
            <a:ext cx="1185012"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600">
                <a:solidFill>
                  <a:schemeClr val="dk1"/>
                </a:solidFill>
                <a:latin typeface="Calibri"/>
                <a:ea typeface="Calibri"/>
                <a:cs typeface="Calibri"/>
                <a:sym typeface="Calibri"/>
              </a:rPr>
              <a:t>+ 1</a:t>
            </a:r>
            <a:r>
              <a:rPr lang="en-GB" sz="2000">
                <a:solidFill>
                  <a:schemeClr val="dk1"/>
                </a:solidFill>
                <a:latin typeface="Calibri"/>
                <a:ea typeface="Calibri"/>
                <a:cs typeface="Calibri"/>
                <a:sym typeface="Calibri"/>
              </a:rPr>
              <a:t> </a:t>
            </a:r>
            <a:r>
              <a:rPr lang="en-GB" sz="3600">
                <a:solidFill>
                  <a:schemeClr val="dk1"/>
                </a:solidFill>
                <a:latin typeface="Calibri"/>
                <a:ea typeface="Calibri"/>
                <a:cs typeface="Calibri"/>
                <a:sym typeface="Calibri"/>
              </a:rPr>
              <a:t>4</a:t>
            </a:r>
            <a:endParaRPr sz="3600">
              <a:solidFill>
                <a:schemeClr val="dk1"/>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3 · 03_T2_PV_VBLOCKS.png</a:t>
            </a:r>
            <a:endParaRPr/>
          </a:p>
        </p:txBody>
      </p:sp>
      <p:sp>
        <p:nvSpPr>
          <p:cNvPr id="121" name="Google Shape;121;p5"/>
          <p:cNvSpPr txBox="1"/>
          <p:nvPr/>
        </p:nvSpPr>
        <p:spPr>
          <a:xfrm>
            <a:off x="8061960" y="137160"/>
            <a:ext cx="3596335" cy="65710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GB" sz="1050">
                <a:solidFill>
                  <a:schemeClr val="dk1"/>
                </a:solidFill>
                <a:latin typeface="Calibri"/>
                <a:ea typeface="Calibri"/>
                <a:cs typeface="Calibri"/>
                <a:sym typeface="Calibri"/>
              </a:rPr>
              <a:t>Heading Text: आइए, 23 और 14 को जोड़ते हैं। </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lang="en-GB" sz="1050">
                <a:solidFill>
                  <a:schemeClr val="dk1"/>
                </a:solidFill>
                <a:latin typeface="Calibri"/>
                <a:ea typeface="Calibri"/>
                <a:cs typeface="Calibri"/>
                <a:sym typeface="Calibri"/>
              </a:rPr>
              <a:t>Heading VO: आइए, 23 और 14 को जोड़ते हैं।</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VO1: </a:t>
            </a:r>
            <a:r>
              <a:rPr lang="en-GB" sz="1050">
                <a:solidFill>
                  <a:schemeClr val="dk1"/>
                </a:solidFill>
                <a:latin typeface="Calibri"/>
                <a:ea typeface="Calibri"/>
                <a:cs typeface="Calibri"/>
                <a:sym typeface="Calibri"/>
              </a:rPr>
              <a:t>सबसे पहले ब्लॉक्स की सहायता से दोनों संख्याएँ बनाते हैं।</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VO2: </a:t>
            </a:r>
            <a:r>
              <a:rPr lang="en-GB" sz="1050">
                <a:solidFill>
                  <a:schemeClr val="dk1"/>
                </a:solidFill>
                <a:latin typeface="Calibri"/>
                <a:ea typeface="Calibri"/>
                <a:cs typeface="Calibri"/>
                <a:sym typeface="Calibri"/>
              </a:rPr>
              <a:t>23 में 2 दहाई और 3 इकाई हैं। </a:t>
            </a:r>
            <a:r>
              <a:rPr i="1" lang="en-GB" sz="1050">
                <a:solidFill>
                  <a:schemeClr val="dk1"/>
                </a:solidFill>
                <a:latin typeface="Calibri"/>
                <a:ea typeface="Calibri"/>
                <a:cs typeface="Calibri"/>
                <a:sym typeface="Calibri"/>
              </a:rPr>
              <a:t>[Tap on the first row, the table will appear and then card as well and its tens and ones digits highlights in sync with VO.]</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VO3: </a:t>
            </a:r>
            <a:r>
              <a:rPr lang="en-GB" sz="1050">
                <a:solidFill>
                  <a:schemeClr val="dk1"/>
                </a:solidFill>
                <a:latin typeface="Calibri"/>
                <a:ea typeface="Calibri"/>
                <a:cs typeface="Calibri"/>
                <a:sym typeface="Calibri"/>
              </a:rPr>
              <a:t>पहले 2 दहाई के लिए 2 बंडल रखते हैं। </a:t>
            </a:r>
            <a:r>
              <a:rPr i="1" lang="en-GB" sz="1050">
                <a:solidFill>
                  <a:schemeClr val="dk1"/>
                </a:solidFill>
                <a:latin typeface="Calibri"/>
                <a:ea typeface="Calibri"/>
                <a:cs typeface="Calibri"/>
                <a:sym typeface="Calibri"/>
              </a:rPr>
              <a:t>[Source buttons appears below and Swiftee adds 2 rods by tapping on plus in tens + button.]</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VO4: </a:t>
            </a:r>
            <a:r>
              <a:rPr lang="en-GB" sz="1050">
                <a:solidFill>
                  <a:schemeClr val="dk1"/>
                </a:solidFill>
                <a:latin typeface="Calibri"/>
                <a:ea typeface="Calibri"/>
                <a:cs typeface="Calibri"/>
                <a:sym typeface="Calibri"/>
              </a:rPr>
              <a:t>अब 3 इकाई के लिए 3 ब्लॉक रखते हैं। </a:t>
            </a:r>
            <a:r>
              <a:rPr i="1" lang="en-GB" sz="1050">
                <a:solidFill>
                  <a:schemeClr val="dk1"/>
                </a:solidFill>
                <a:latin typeface="Calibri"/>
                <a:ea typeface="Calibri"/>
                <a:cs typeface="Calibri"/>
                <a:sym typeface="Calibri"/>
              </a:rPr>
              <a:t>[Swiftee adds 3 blocks by tapping on ones + button.]</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VO5: </a:t>
            </a:r>
            <a:r>
              <a:rPr lang="en-GB" sz="1050">
                <a:solidFill>
                  <a:schemeClr val="dk1"/>
                </a:solidFill>
                <a:latin typeface="Calibri"/>
                <a:ea typeface="Calibri"/>
                <a:cs typeface="Calibri"/>
                <a:sym typeface="Calibri"/>
              </a:rPr>
              <a:t>इसी तरह, 14 में 1 दहाई और 4 इकाई हैं। </a:t>
            </a:r>
            <a:r>
              <a:rPr i="1" lang="en-GB" sz="1050">
                <a:solidFill>
                  <a:schemeClr val="dk1"/>
                </a:solidFill>
                <a:latin typeface="Calibri"/>
                <a:ea typeface="Calibri"/>
                <a:cs typeface="Calibri"/>
                <a:sym typeface="Calibri"/>
              </a:rPr>
              <a:t>[Table appear and card as well. Then, its tens and ones digits highlights in sync with VO.]</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VO6: </a:t>
            </a:r>
            <a:r>
              <a:rPr lang="en-GB" sz="1050">
                <a:solidFill>
                  <a:schemeClr val="dk1"/>
                </a:solidFill>
                <a:latin typeface="Calibri"/>
                <a:ea typeface="Calibri"/>
                <a:cs typeface="Calibri"/>
                <a:sym typeface="Calibri"/>
              </a:rPr>
              <a:t>अब आप ब्लॉक्स की सहायता से 14 बनाइए।</a:t>
            </a:r>
            <a:r>
              <a:rPr i="1" lang="en-GB" sz="1050">
                <a:solidFill>
                  <a:schemeClr val="dk1"/>
                </a:solidFill>
                <a:latin typeface="Calibri"/>
                <a:ea typeface="Calibri"/>
                <a:cs typeface="Calibri"/>
                <a:sym typeface="Calibri"/>
              </a:rPr>
              <a:t>[Pulsate the Tens </a:t>
            </a:r>
            <a:r>
              <a:rPr b="1" i="1" lang="en-GB" sz="1050">
                <a:solidFill>
                  <a:schemeClr val="dk1"/>
                </a:solidFill>
                <a:latin typeface="Calibri"/>
                <a:ea typeface="Calibri"/>
                <a:cs typeface="Calibri"/>
                <a:sym typeface="Calibri"/>
              </a:rPr>
              <a:t>+</a:t>
            </a:r>
            <a:r>
              <a:rPr i="1" lang="en-GB" sz="1050">
                <a:solidFill>
                  <a:schemeClr val="dk1"/>
                </a:solidFill>
                <a:latin typeface="Calibri"/>
                <a:ea typeface="Calibri"/>
                <a:cs typeface="Calibri"/>
                <a:sym typeface="Calibri"/>
              </a:rPr>
              <a:t> button; disable after 1 tap. Then pulsate the Ones </a:t>
            </a:r>
            <a:r>
              <a:rPr b="1" i="1" lang="en-GB" sz="1050">
                <a:solidFill>
                  <a:schemeClr val="dk1"/>
                </a:solidFill>
                <a:latin typeface="Calibri"/>
                <a:ea typeface="Calibri"/>
                <a:cs typeface="Calibri"/>
                <a:sym typeface="Calibri"/>
              </a:rPr>
              <a:t>+</a:t>
            </a:r>
            <a:r>
              <a:rPr i="1" lang="en-GB" sz="1050">
                <a:solidFill>
                  <a:schemeClr val="dk1"/>
                </a:solidFill>
                <a:latin typeface="Calibri"/>
                <a:ea typeface="Calibri"/>
                <a:cs typeface="Calibri"/>
                <a:sym typeface="Calibri"/>
              </a:rPr>
              <a:t> button; disable after 4 taps. If idle after 1 tap, pulsate again until 4 blocks are added.]</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VO7: </a:t>
            </a:r>
            <a:r>
              <a:rPr lang="en-GB" sz="1050">
                <a:solidFill>
                  <a:schemeClr val="dk1"/>
                </a:solidFill>
                <a:latin typeface="Calibri"/>
                <a:ea typeface="Calibri"/>
                <a:cs typeface="Calibri"/>
                <a:sym typeface="Calibri"/>
              </a:rPr>
              <a:t>बहुत बढ़िया! अब दोनों संख्याओं को जोड़ते हैं।[Remove the Tens and Ones source buttons, then show the place-value table below for the sum.]</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VO8: </a:t>
            </a:r>
            <a:r>
              <a:rPr lang="en-GB" sz="1050">
                <a:solidFill>
                  <a:schemeClr val="dk1"/>
                </a:solidFill>
                <a:latin typeface="Calibri"/>
                <a:ea typeface="Calibri"/>
                <a:cs typeface="Calibri"/>
                <a:sym typeface="Calibri"/>
              </a:rPr>
              <a:t>पहले इकाइयों को जोड़ते हैं। </a:t>
            </a:r>
            <a:r>
              <a:rPr i="1" lang="en-GB" sz="1050">
                <a:solidFill>
                  <a:schemeClr val="dk1"/>
                </a:solidFill>
                <a:latin typeface="Calibri"/>
                <a:ea typeface="Calibri"/>
                <a:cs typeface="Calibri"/>
                <a:sym typeface="Calibri"/>
              </a:rPr>
              <a:t>[Tens are disabled. Pulsate the Ones blocks until all are tapped; each tapped block moves to the sum card, leaving a greyed-out image behind.]</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VO9: </a:t>
            </a:r>
            <a:r>
              <a:rPr lang="en-GB" sz="1050">
                <a:solidFill>
                  <a:schemeClr val="dk1"/>
                </a:solidFill>
                <a:latin typeface="Calibri"/>
                <a:ea typeface="Calibri"/>
                <a:cs typeface="Calibri"/>
                <a:sym typeface="Calibri"/>
              </a:rPr>
              <a:t>3 इकाई और 4 इकाई मिलाकर हुई, 7 इकाई।</a:t>
            </a:r>
            <a:r>
              <a:rPr i="1" lang="en-GB" sz="1050">
                <a:solidFill>
                  <a:schemeClr val="dk1"/>
                </a:solidFill>
                <a:latin typeface="Calibri"/>
                <a:ea typeface="Calibri"/>
                <a:cs typeface="Calibri"/>
                <a:sym typeface="Calibri"/>
              </a:rPr>
              <a:t> [Highlights the blocks on the sum card in sync with the VO.]</a:t>
            </a:r>
            <a:br>
              <a:rPr lang="en-GB" sz="1050">
                <a:solidFill>
                  <a:schemeClr val="dk1"/>
                </a:solidFill>
                <a:latin typeface="Calibri"/>
                <a:ea typeface="Calibri"/>
                <a:cs typeface="Calibri"/>
                <a:sym typeface="Calibri"/>
              </a:rPr>
            </a:br>
            <a:r>
              <a:rPr b="1" lang="en-GB" sz="1050">
                <a:solidFill>
                  <a:schemeClr val="dk1"/>
                </a:solidFill>
                <a:latin typeface="Calibri"/>
                <a:ea typeface="Calibri"/>
                <a:cs typeface="Calibri"/>
                <a:sym typeface="Calibri"/>
              </a:rPr>
              <a:t>VO10: </a:t>
            </a:r>
            <a:r>
              <a:rPr lang="en-GB" sz="1050">
                <a:solidFill>
                  <a:schemeClr val="dk1"/>
                </a:solidFill>
                <a:latin typeface="Calibri"/>
                <a:ea typeface="Calibri"/>
                <a:cs typeface="Calibri"/>
                <a:sym typeface="Calibri"/>
              </a:rPr>
              <a:t>अब दहाइयों को जोड़ते हैं। </a:t>
            </a:r>
            <a:r>
              <a:rPr i="1" lang="en-GB" sz="1050">
                <a:solidFill>
                  <a:schemeClr val="dk1"/>
                </a:solidFill>
                <a:latin typeface="Calibri"/>
                <a:ea typeface="Calibri"/>
                <a:cs typeface="Calibri"/>
                <a:sym typeface="Calibri"/>
              </a:rPr>
              <a:t>[Pulsate the Tens rods until all are tapped; each tapped rod moves to the sum card, leaving a greyed-out image behind.]</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VO11: </a:t>
            </a:r>
            <a:r>
              <a:rPr lang="en-GB" sz="1050">
                <a:solidFill>
                  <a:schemeClr val="dk1"/>
                </a:solidFill>
                <a:latin typeface="Calibri"/>
                <a:ea typeface="Calibri"/>
                <a:cs typeface="Calibri"/>
                <a:sym typeface="Calibri"/>
              </a:rPr>
              <a:t>2 दहाई और 1 दहाई मिलाकर हुई, 3 दहाई। </a:t>
            </a:r>
            <a:r>
              <a:rPr i="1" lang="en-GB" sz="1050">
                <a:solidFill>
                  <a:schemeClr val="dk1"/>
                </a:solidFill>
                <a:latin typeface="Calibri"/>
                <a:ea typeface="Calibri"/>
                <a:cs typeface="Calibri"/>
                <a:sym typeface="Calibri"/>
              </a:rPr>
              <a:t>[Highlight the rods on the sum card in sync with the VO.]</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VO12:</a:t>
            </a:r>
            <a:r>
              <a:rPr lang="en-GB" sz="1050">
                <a:solidFill>
                  <a:schemeClr val="dk1"/>
                </a:solidFill>
                <a:latin typeface="Calibri"/>
                <a:ea typeface="Calibri"/>
                <a:cs typeface="Calibri"/>
                <a:sym typeface="Calibri"/>
              </a:rPr>
              <a:t> अब हमारे पास कुल 3 दहाइयाँ और 7 इकाइयाँ हैं, यानी 37 </a:t>
            </a:r>
            <a:r>
              <a:rPr i="1" lang="en-GB" sz="1050">
                <a:solidFill>
                  <a:schemeClr val="dk1"/>
                </a:solidFill>
                <a:latin typeface="Calibri"/>
                <a:ea typeface="Calibri"/>
                <a:cs typeface="Calibri"/>
                <a:sym typeface="Calibri"/>
              </a:rPr>
              <a:t>[Highlight the rods, blocks, digits on the card and the number 37 in sync with the VO.]</a:t>
            </a:r>
            <a:endParaRPr sz="9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050">
                <a:solidFill>
                  <a:schemeClr val="dk1"/>
                </a:solidFill>
                <a:latin typeface="Calibri"/>
                <a:ea typeface="Calibri"/>
                <a:cs typeface="Calibri"/>
                <a:sym typeface="Calibri"/>
              </a:rPr>
              <a:t>Completion VO:</a:t>
            </a:r>
            <a:r>
              <a:rPr lang="en-GB" sz="1050">
                <a:solidFill>
                  <a:schemeClr val="dk1"/>
                </a:solidFill>
                <a:latin typeface="Calibri"/>
                <a:ea typeface="Calibri"/>
                <a:cs typeface="Calibri"/>
                <a:sym typeface="Calibri"/>
              </a:rPr>
              <a:t> इसलिए, 23 और 14 को जोड़ने पर 37 मिलता है।</a:t>
            </a:r>
            <a:endParaRPr sz="900">
              <a:solidFill>
                <a:schemeClr val="dk1"/>
              </a:solidFill>
              <a:latin typeface="Calibri"/>
              <a:ea typeface="Calibri"/>
              <a:cs typeface="Calibri"/>
              <a:sym typeface="Calibri"/>
            </a:endParaRPr>
          </a:p>
          <a:p>
            <a:pPr indent="0" lvl="0" marL="0" marR="0" rtl="0" algn="l">
              <a:spcBef>
                <a:spcPts val="0"/>
              </a:spcBef>
              <a:spcAft>
                <a:spcPts val="0"/>
              </a:spcAft>
              <a:buNone/>
            </a:pPr>
            <a:br>
              <a:rPr lang="en-GB" sz="900">
                <a:solidFill>
                  <a:schemeClr val="dk1"/>
                </a:solidFill>
                <a:latin typeface="Calibri"/>
                <a:ea typeface="Calibri"/>
                <a:cs typeface="Calibri"/>
                <a:sym typeface="Calibri"/>
              </a:rPr>
            </a:br>
            <a:endParaRPr sz="900">
              <a:solidFill>
                <a:srgbClr val="1B2A44"/>
              </a:solidFill>
              <a:latin typeface="Calibri"/>
              <a:ea typeface="Calibri"/>
              <a:cs typeface="Calibri"/>
              <a:sym typeface="Calibri"/>
            </a:endParaRPr>
          </a:p>
        </p:txBody>
      </p:sp>
      <p:pic>
        <p:nvPicPr>
          <p:cNvPr id="122" name="Google Shape;122;p5"/>
          <p:cNvPicPr preferRelativeResize="0"/>
          <p:nvPr/>
        </p:nvPicPr>
        <p:blipFill rotWithShape="1">
          <a:blip r:embed="rId3">
            <a:alphaModFix/>
          </a:blip>
          <a:srcRect b="0" l="0" r="0" t="0"/>
          <a:stretch/>
        </p:blipFill>
        <p:spPr>
          <a:xfrm>
            <a:off x="0" y="3888682"/>
            <a:ext cx="6488430" cy="3258878"/>
          </a:xfrm>
          <a:prstGeom prst="rect">
            <a:avLst/>
          </a:prstGeom>
          <a:noFill/>
          <a:ln>
            <a:noFill/>
          </a:ln>
        </p:spPr>
      </p:pic>
      <p:pic>
        <p:nvPicPr>
          <p:cNvPr id="123" name="Google Shape;123;p5"/>
          <p:cNvPicPr preferRelativeResize="0"/>
          <p:nvPr/>
        </p:nvPicPr>
        <p:blipFill rotWithShape="1">
          <a:blip r:embed="rId4">
            <a:alphaModFix/>
          </a:blip>
          <a:srcRect b="0" l="0" r="0" t="0"/>
          <a:stretch/>
        </p:blipFill>
        <p:spPr>
          <a:xfrm>
            <a:off x="350520" y="624839"/>
            <a:ext cx="6096000" cy="3049719"/>
          </a:xfrm>
          <a:prstGeom prst="rect">
            <a:avLst/>
          </a:prstGeom>
          <a:noFill/>
          <a:ln>
            <a:noFill/>
          </a:ln>
        </p:spPr>
      </p:pic>
      <p:pic>
        <p:nvPicPr>
          <p:cNvPr id="124" name="Google Shape;124;p5"/>
          <p:cNvPicPr preferRelativeResize="0"/>
          <p:nvPr/>
        </p:nvPicPr>
        <p:blipFill rotWithShape="1">
          <a:blip r:embed="rId5">
            <a:alphaModFix/>
          </a:blip>
          <a:srcRect b="0" l="0" r="0" t="0"/>
          <a:stretch/>
        </p:blipFill>
        <p:spPr>
          <a:xfrm>
            <a:off x="5749649" y="1135801"/>
            <a:ext cx="1963565" cy="202779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4 · 04_T3_PV_COLUMN.png</a:t>
            </a:r>
            <a:endParaRPr/>
          </a:p>
        </p:txBody>
      </p:sp>
      <p:pic>
        <p:nvPicPr>
          <p:cNvPr descr="04_T3_PV_COLUMN.png" id="130" name="Google Shape;130;p6"/>
          <p:cNvPicPr preferRelativeResize="0"/>
          <p:nvPr/>
        </p:nvPicPr>
        <p:blipFill rotWithShape="1">
          <a:blip r:embed="rId3">
            <a:alphaModFix/>
          </a:blip>
          <a:srcRect b="0" l="0" r="0" t="0"/>
          <a:stretch/>
        </p:blipFill>
        <p:spPr>
          <a:xfrm>
            <a:off x="119270" y="-1040"/>
            <a:ext cx="1990326" cy="1001864"/>
          </a:xfrm>
          <a:prstGeom prst="rect">
            <a:avLst/>
          </a:prstGeom>
          <a:noFill/>
          <a:ln>
            <a:noFill/>
          </a:ln>
        </p:spPr>
      </p:pic>
      <p:sp>
        <p:nvSpPr>
          <p:cNvPr id="131" name="Google Shape;131;p6"/>
          <p:cNvSpPr txBox="1"/>
          <p:nvPr/>
        </p:nvSpPr>
        <p:spPr>
          <a:xfrm>
            <a:off x="8229600" y="731520"/>
            <a:ext cx="3596335" cy="390876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Replace the entire slide content with the following:</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Heading Text: कुल कितने ब्लॉक्स?</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Visuals: Akash and Moni with blocks and number of blocks.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br>
              <a:rPr lang="en-GB"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VO1: 23 जोड़ 14 बराबर 37</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GB" sz="1800">
                <a:solidFill>
                  <a:schemeClr val="dk1"/>
                </a:solidFill>
                <a:latin typeface="Calibri"/>
                <a:ea typeface="Calibri"/>
                <a:cs typeface="Calibri"/>
                <a:sym typeface="Calibri"/>
              </a:rPr>
              <a:t>VO2: आकाश और मोनी के पास कुल मिलाकर 37 ब्लॉकस है।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br>
              <a:rPr lang="en-GB" sz="1400">
                <a:solidFill>
                  <a:schemeClr val="dk1"/>
                </a:solidFill>
                <a:latin typeface="Calibri"/>
                <a:ea typeface="Calibri"/>
                <a:cs typeface="Calibri"/>
                <a:sym typeface="Calibri"/>
              </a:rPr>
            </a:br>
            <a:r>
              <a:rPr lang="en-GB" sz="1400">
                <a:solidFill>
                  <a:schemeClr val="dk1"/>
                </a:solidFill>
                <a:latin typeface="Calibri"/>
                <a:ea typeface="Calibri"/>
                <a:cs typeface="Calibri"/>
                <a:sym typeface="Calibri"/>
              </a:rPr>
              <a:t>Everything will appear with the sync VO.</a:t>
            </a:r>
            <a:endParaRPr sz="1300">
              <a:solidFill>
                <a:srgbClr val="1B2A44"/>
              </a:solidFill>
              <a:latin typeface="Calibri"/>
              <a:ea typeface="Calibri"/>
              <a:cs typeface="Calibri"/>
              <a:sym typeface="Calibri"/>
            </a:endParaRPr>
          </a:p>
        </p:txBody>
      </p:sp>
      <p:pic>
        <p:nvPicPr>
          <p:cNvPr id="132" name="Google Shape;132;p6"/>
          <p:cNvPicPr preferRelativeResize="0"/>
          <p:nvPr/>
        </p:nvPicPr>
        <p:blipFill rotWithShape="1">
          <a:blip r:embed="rId4">
            <a:alphaModFix/>
          </a:blip>
          <a:srcRect b="0" l="0" r="0" t="0"/>
          <a:stretch/>
        </p:blipFill>
        <p:spPr>
          <a:xfrm>
            <a:off x="196769" y="685800"/>
            <a:ext cx="7831481" cy="4347376"/>
          </a:xfrm>
          <a:prstGeom prst="rect">
            <a:avLst/>
          </a:prstGeom>
          <a:noFill/>
          <a:ln>
            <a:noFill/>
          </a:ln>
        </p:spPr>
      </p:pic>
      <p:pic>
        <p:nvPicPr>
          <p:cNvPr id="133" name="Google Shape;133;p6"/>
          <p:cNvPicPr preferRelativeResize="0"/>
          <p:nvPr/>
        </p:nvPicPr>
        <p:blipFill rotWithShape="1">
          <a:blip r:embed="rId5">
            <a:alphaModFix/>
          </a:blip>
          <a:srcRect b="0" l="0" r="0" t="0"/>
          <a:stretch/>
        </p:blipFill>
        <p:spPr>
          <a:xfrm>
            <a:off x="3307726" y="1626245"/>
            <a:ext cx="371575" cy="646332"/>
          </a:xfrm>
          <a:prstGeom prst="rect">
            <a:avLst/>
          </a:prstGeom>
          <a:noFill/>
          <a:ln>
            <a:noFill/>
          </a:ln>
        </p:spPr>
      </p:pic>
      <p:pic>
        <p:nvPicPr>
          <p:cNvPr id="134" name="Google Shape;134;p6"/>
          <p:cNvPicPr preferRelativeResize="0"/>
          <p:nvPr/>
        </p:nvPicPr>
        <p:blipFill rotWithShape="1">
          <a:blip r:embed="rId6">
            <a:alphaModFix/>
          </a:blip>
          <a:srcRect b="0" l="0" r="0" t="0"/>
          <a:stretch/>
        </p:blipFill>
        <p:spPr>
          <a:xfrm>
            <a:off x="2519679" y="2365404"/>
            <a:ext cx="1066802" cy="697523"/>
          </a:xfrm>
          <a:prstGeom prst="rect">
            <a:avLst/>
          </a:prstGeom>
          <a:noFill/>
          <a:ln>
            <a:noFill/>
          </a:ln>
        </p:spPr>
      </p:pic>
      <p:sp>
        <p:nvSpPr>
          <p:cNvPr id="135" name="Google Shape;135;p6"/>
          <p:cNvSpPr txBox="1"/>
          <p:nvPr/>
        </p:nvSpPr>
        <p:spPr>
          <a:xfrm>
            <a:off x="4721976" y="1760219"/>
            <a:ext cx="9753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chemeClr val="dk1"/>
                </a:solidFill>
                <a:latin typeface="Calibri"/>
                <a:ea typeface="Calibri"/>
                <a:cs typeface="Calibri"/>
                <a:sym typeface="Calibri"/>
              </a:rPr>
              <a:t>2 3</a:t>
            </a:r>
            <a:endParaRPr b="1" sz="3600">
              <a:solidFill>
                <a:schemeClr val="dk1"/>
              </a:solidFill>
              <a:latin typeface="Calibri"/>
              <a:ea typeface="Calibri"/>
              <a:cs typeface="Calibri"/>
              <a:sym typeface="Calibri"/>
            </a:endParaRPr>
          </a:p>
        </p:txBody>
      </p:sp>
      <p:sp>
        <p:nvSpPr>
          <p:cNvPr id="136" name="Google Shape;136;p6"/>
          <p:cNvSpPr txBox="1"/>
          <p:nvPr/>
        </p:nvSpPr>
        <p:spPr>
          <a:xfrm>
            <a:off x="4721976" y="2536090"/>
            <a:ext cx="9753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chemeClr val="dk1"/>
                </a:solidFill>
                <a:latin typeface="Calibri"/>
                <a:ea typeface="Calibri"/>
                <a:cs typeface="Calibri"/>
                <a:sym typeface="Calibri"/>
              </a:rPr>
              <a:t>1 4</a:t>
            </a:r>
            <a:endParaRPr b="1" sz="3600">
              <a:solidFill>
                <a:schemeClr val="dk1"/>
              </a:solidFill>
              <a:latin typeface="Calibri"/>
              <a:ea typeface="Calibri"/>
              <a:cs typeface="Calibri"/>
              <a:sym typeface="Calibri"/>
            </a:endParaRPr>
          </a:p>
        </p:txBody>
      </p:sp>
      <p:cxnSp>
        <p:nvCxnSpPr>
          <p:cNvPr id="137" name="Google Shape;137;p6"/>
          <p:cNvCxnSpPr/>
          <p:nvPr/>
        </p:nvCxnSpPr>
        <p:spPr>
          <a:xfrm>
            <a:off x="4372264" y="3096545"/>
            <a:ext cx="121319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138" name="Google Shape;138;p6"/>
          <p:cNvSpPr txBox="1"/>
          <p:nvPr/>
        </p:nvSpPr>
        <p:spPr>
          <a:xfrm>
            <a:off x="4462896" y="2566867"/>
            <a:ext cx="56549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
        <p:nvSpPr>
          <p:cNvPr id="139" name="Google Shape;139;p6"/>
          <p:cNvSpPr/>
          <p:nvPr/>
        </p:nvSpPr>
        <p:spPr>
          <a:xfrm>
            <a:off x="4595842" y="3195219"/>
            <a:ext cx="913418" cy="571500"/>
          </a:xfrm>
          <a:prstGeom prst="rect">
            <a:avLst/>
          </a:prstGeom>
          <a:solidFill>
            <a:srgbClr val="D8D8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1400">
                <a:solidFill>
                  <a:schemeClr val="lt1"/>
                </a:solidFill>
                <a:latin typeface="Calibri"/>
                <a:ea typeface="Calibri"/>
                <a:cs typeface="Calibri"/>
                <a:sym typeface="Calibri"/>
              </a:rPr>
              <a:t> </a:t>
            </a:r>
            <a:r>
              <a:rPr b="1" lang="en-GB" sz="3200">
                <a:solidFill>
                  <a:schemeClr val="lt1"/>
                </a:solidFill>
                <a:latin typeface="Calibri"/>
                <a:ea typeface="Calibri"/>
                <a:cs typeface="Calibri"/>
                <a:sym typeface="Calibri"/>
              </a:rPr>
              <a:t>3 7</a:t>
            </a:r>
            <a:endParaRPr b="1" sz="3200">
              <a:solidFill>
                <a:schemeClr val="lt1"/>
              </a:solidFill>
              <a:latin typeface="Calibri"/>
              <a:ea typeface="Calibri"/>
              <a:cs typeface="Calibri"/>
              <a:sym typeface="Calibri"/>
            </a:endParaRPr>
          </a:p>
        </p:txBody>
      </p:sp>
      <p:pic>
        <p:nvPicPr>
          <p:cNvPr id="140" name="Google Shape;140;p6"/>
          <p:cNvPicPr preferRelativeResize="0"/>
          <p:nvPr/>
        </p:nvPicPr>
        <p:blipFill rotWithShape="1">
          <a:blip r:embed="rId7">
            <a:alphaModFix/>
          </a:blip>
          <a:srcRect b="0" l="0" r="0" t="0"/>
          <a:stretch/>
        </p:blipFill>
        <p:spPr>
          <a:xfrm>
            <a:off x="3307726" y="3182421"/>
            <a:ext cx="546642" cy="755030"/>
          </a:xfrm>
          <a:prstGeom prst="rect">
            <a:avLst/>
          </a:prstGeom>
          <a:noFill/>
          <a:ln>
            <a:noFill/>
          </a:ln>
        </p:spPr>
      </p:pic>
      <p:grpSp>
        <p:nvGrpSpPr>
          <p:cNvPr id="141" name="Google Shape;141;p6"/>
          <p:cNvGrpSpPr/>
          <p:nvPr/>
        </p:nvGrpSpPr>
        <p:grpSpPr>
          <a:xfrm>
            <a:off x="-476587" y="6322409"/>
            <a:ext cx="2036536" cy="1071181"/>
            <a:chOff x="1271190" y="5202297"/>
            <a:chExt cx="6649304" cy="3691131"/>
          </a:xfrm>
        </p:grpSpPr>
        <p:pic>
          <p:nvPicPr>
            <p:cNvPr id="142" name="Google Shape;142;p6"/>
            <p:cNvPicPr preferRelativeResize="0"/>
            <p:nvPr/>
          </p:nvPicPr>
          <p:blipFill rotWithShape="1">
            <a:blip r:embed="rId4">
              <a:alphaModFix/>
            </a:blip>
            <a:srcRect b="0" l="0" r="0" t="0"/>
            <a:stretch/>
          </p:blipFill>
          <p:spPr>
            <a:xfrm>
              <a:off x="1271190" y="5202297"/>
              <a:ext cx="6649304" cy="3691131"/>
            </a:xfrm>
            <a:prstGeom prst="rect">
              <a:avLst/>
            </a:prstGeom>
            <a:noFill/>
            <a:ln>
              <a:noFill/>
            </a:ln>
          </p:spPr>
        </p:pic>
        <p:pic>
          <p:nvPicPr>
            <p:cNvPr id="143" name="Google Shape;143;p6"/>
            <p:cNvPicPr preferRelativeResize="0"/>
            <p:nvPr/>
          </p:nvPicPr>
          <p:blipFill rotWithShape="1">
            <a:blip r:embed="rId8">
              <a:alphaModFix/>
            </a:blip>
            <a:srcRect b="0" l="0" r="0" t="0"/>
            <a:stretch/>
          </p:blipFill>
          <p:spPr>
            <a:xfrm>
              <a:off x="3849683" y="5939778"/>
              <a:ext cx="644953" cy="1121856"/>
            </a:xfrm>
            <a:prstGeom prst="rect">
              <a:avLst/>
            </a:prstGeom>
            <a:noFill/>
            <a:ln>
              <a:noFill/>
            </a:ln>
          </p:spPr>
        </p:pic>
        <p:pic>
          <p:nvPicPr>
            <p:cNvPr id="144" name="Google Shape;144;p6"/>
            <p:cNvPicPr preferRelativeResize="0"/>
            <p:nvPr/>
          </p:nvPicPr>
          <p:blipFill rotWithShape="1">
            <a:blip r:embed="rId9">
              <a:alphaModFix/>
            </a:blip>
            <a:srcRect b="0" l="0" r="0" t="0"/>
            <a:stretch/>
          </p:blipFill>
          <p:spPr>
            <a:xfrm>
              <a:off x="5028392" y="5964786"/>
              <a:ext cx="1576552" cy="1030821"/>
            </a:xfrm>
            <a:prstGeom prst="rect">
              <a:avLst/>
            </a:prstGeom>
            <a:noFill/>
            <a:ln>
              <a:noFill/>
            </a:ln>
          </p:spPr>
        </p:pic>
        <p:sp>
          <p:nvSpPr>
            <p:cNvPr id="145" name="Google Shape;145;p6"/>
            <p:cNvSpPr txBox="1"/>
            <p:nvPr/>
          </p:nvSpPr>
          <p:spPr>
            <a:xfrm>
              <a:off x="3943875" y="7082051"/>
              <a:ext cx="828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23</a:t>
              </a:r>
              <a:endParaRPr sz="2800">
                <a:solidFill>
                  <a:schemeClr val="dk1"/>
                </a:solidFill>
                <a:latin typeface="Calibri"/>
                <a:ea typeface="Calibri"/>
                <a:cs typeface="Calibri"/>
                <a:sym typeface="Calibri"/>
              </a:endParaRPr>
            </a:p>
          </p:txBody>
        </p:sp>
        <p:sp>
          <p:nvSpPr>
            <p:cNvPr id="146" name="Google Shape;146;p6"/>
            <p:cNvSpPr txBox="1"/>
            <p:nvPr/>
          </p:nvSpPr>
          <p:spPr>
            <a:xfrm>
              <a:off x="5816668" y="7082051"/>
              <a:ext cx="82812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2800">
                  <a:solidFill>
                    <a:schemeClr val="dk1"/>
                  </a:solidFill>
                  <a:latin typeface="Calibri"/>
                  <a:ea typeface="Calibri"/>
                  <a:cs typeface="Calibri"/>
                  <a:sym typeface="Calibri"/>
                </a:rPr>
                <a:t>14</a:t>
              </a:r>
              <a:endParaRPr sz="2800">
                <a:solidFill>
                  <a:schemeClr val="dk1"/>
                </a:solidFill>
                <a:latin typeface="Calibri"/>
                <a:ea typeface="Calibri"/>
                <a:cs typeface="Calibri"/>
                <a:sym typeface="Calibri"/>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
                                        </p:tgtEl>
                                        <p:attrNameLst>
                                          <p:attrName>style.visibility</p:attrName>
                                        </p:attrNameLst>
                                      </p:cBhvr>
                                      <p:to>
                                        <p:strVal val="visible"/>
                                      </p:to>
                                    </p:set>
                                    <p:animEffect filter="fade" transition="in">
                                      <p:cBhvr>
                                        <p:cTn dur="500"/>
                                        <p:tgtEl>
                                          <p:spTgt spid="138"/>
                                        </p:tgtEl>
                                      </p:cBhvr>
                                    </p:animEffect>
                                  </p:childTnLst>
                                </p:cTn>
                              </p:par>
                              <p:par>
                                <p:cTn fill="hold" nodeType="withEffect" presetClass="entr" presetID="10" presetSubtype="0">
                                  <p:stCondLst>
                                    <p:cond delay="0"/>
                                  </p:stCondLst>
                                  <p:childTnLst>
                                    <p:set>
                                      <p:cBhvr>
                                        <p:cTn dur="1" fill="hold">
                                          <p:stCondLst>
                                            <p:cond delay="0"/>
                                          </p:stCondLst>
                                        </p:cTn>
                                        <p:tgtEl>
                                          <p:spTgt spid="137"/>
                                        </p:tgtEl>
                                        <p:attrNameLst>
                                          <p:attrName>style.visibility</p:attrName>
                                        </p:attrNameLst>
                                      </p:cBhvr>
                                      <p:to>
                                        <p:strVal val="visible"/>
                                      </p:to>
                                    </p:set>
                                    <p:animEffect filter="fade" transition="in">
                                      <p:cBhvr>
                                        <p:cTn dur="500"/>
                                        <p:tgtEl>
                                          <p:spTgt spid="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
                                        </p:tgtEl>
                                        <p:attrNameLst>
                                          <p:attrName>style.visibility</p:attrName>
                                        </p:attrNameLst>
                                      </p:cBhvr>
                                      <p:to>
                                        <p:strVal val="visible"/>
                                      </p:to>
                                    </p:set>
                                    <p:animEffect filter="fade" transition="in">
                                      <p:cBhvr>
                                        <p:cTn dur="500"/>
                                        <p:tgtEl>
                                          <p:spTgt spid="1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7"/>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5 · 05_T4_PV_COLUMN.png</a:t>
            </a:r>
            <a:endParaRPr/>
          </a:p>
        </p:txBody>
      </p:sp>
      <p:pic>
        <p:nvPicPr>
          <p:cNvPr descr="05_T4_PV_COLUMN.png" id="152" name="Google Shape;152;p7"/>
          <p:cNvPicPr preferRelativeResize="0"/>
          <p:nvPr/>
        </p:nvPicPr>
        <p:blipFill rotWithShape="1">
          <a:blip r:embed="rId3">
            <a:alphaModFix/>
          </a:blip>
          <a:srcRect b="0" l="0" r="0" t="0"/>
          <a:stretch/>
        </p:blipFill>
        <p:spPr>
          <a:xfrm>
            <a:off x="365760" y="731520"/>
            <a:ext cx="7680960" cy="3866341"/>
          </a:xfrm>
          <a:prstGeom prst="rect">
            <a:avLst/>
          </a:prstGeom>
          <a:noFill/>
          <a:ln>
            <a:noFill/>
          </a:ln>
        </p:spPr>
      </p:pic>
      <p:sp>
        <p:nvSpPr>
          <p:cNvPr id="153" name="Google Shape;153;p7"/>
          <p:cNvSpPr txBox="1"/>
          <p:nvPr/>
        </p:nvSpPr>
        <p:spPr>
          <a:xfrm>
            <a:off x="8229600" y="731520"/>
            <a:ext cx="3596335"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GB" sz="1300">
                <a:solidFill>
                  <a:srgbClr val="1B2A44"/>
                </a:solidFill>
                <a:latin typeface="Calibri"/>
                <a:ea typeface="Calibri"/>
                <a:cs typeface="Calibri"/>
                <a:sym typeface="Calibri"/>
              </a:rPr>
              <a:t>• delete</a:t>
            </a:r>
            <a:endParaRPr sz="1300">
              <a:solidFill>
                <a:srgbClr val="1B2A44"/>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8"/>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6 · 06_G1_PV_VBLOCKS.png</a:t>
            </a:r>
            <a:endParaRPr/>
          </a:p>
        </p:txBody>
      </p:sp>
      <p:pic>
        <p:nvPicPr>
          <p:cNvPr descr="06_G1_PV_VBLOCKS.png" id="159" name="Google Shape;159;p8"/>
          <p:cNvPicPr preferRelativeResize="0"/>
          <p:nvPr/>
        </p:nvPicPr>
        <p:blipFill rotWithShape="1">
          <a:blip r:embed="rId3">
            <a:alphaModFix/>
          </a:blip>
          <a:srcRect b="0" l="0" r="0" t="0"/>
          <a:stretch/>
        </p:blipFill>
        <p:spPr>
          <a:xfrm>
            <a:off x="422275" y="468815"/>
            <a:ext cx="1960012" cy="986605"/>
          </a:xfrm>
          <a:prstGeom prst="rect">
            <a:avLst/>
          </a:prstGeom>
          <a:noFill/>
          <a:ln>
            <a:noFill/>
          </a:ln>
        </p:spPr>
      </p:pic>
      <p:sp>
        <p:nvSpPr>
          <p:cNvPr id="160" name="Google Shape;160;p8"/>
          <p:cNvSpPr txBox="1"/>
          <p:nvPr/>
        </p:nvSpPr>
        <p:spPr>
          <a:xfrm>
            <a:off x="7825740" y="137160"/>
            <a:ext cx="4000195" cy="584775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200">
                <a:solidFill>
                  <a:schemeClr val="dk1"/>
                </a:solidFill>
                <a:latin typeface="Calibri"/>
                <a:ea typeface="Calibri"/>
                <a:cs typeface="Calibri"/>
                <a:sym typeface="Calibri"/>
              </a:rPr>
              <a:t>Recommendations</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Use the same place-value table.</a:t>
            </a:r>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Text</a:t>
            </a:r>
            <a:r>
              <a:rPr lang="en-GB" sz="1200">
                <a:solidFill>
                  <a:schemeClr val="dk1"/>
                </a:solidFill>
                <a:latin typeface="Calibri"/>
                <a:ea typeface="Calibri"/>
                <a:cs typeface="Calibri"/>
                <a:sym typeface="Calibri"/>
              </a:rPr>
              <a:t>: संख्याएँ जोड़िए। </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VO1: </a:t>
            </a:r>
            <a:r>
              <a:rPr lang="en-GB" sz="1200">
                <a:solidFill>
                  <a:schemeClr val="dk1"/>
                </a:solidFill>
                <a:latin typeface="Calibri"/>
                <a:ea typeface="Calibri"/>
                <a:cs typeface="Calibri"/>
                <a:sym typeface="Calibri"/>
              </a:rPr>
              <a:t>पहले ब्लॉक्स की सहायता से दोनों संख्याएँ बनाते हैं। </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VO2:</a:t>
            </a:r>
            <a:r>
              <a:rPr lang="en-GB" sz="1200">
                <a:solidFill>
                  <a:schemeClr val="dk1"/>
                </a:solidFill>
                <a:latin typeface="Calibri"/>
                <a:ea typeface="Calibri"/>
                <a:cs typeface="Calibri"/>
                <a:sym typeface="Calibri"/>
              </a:rPr>
              <a:t> 34 में 3 दहाई और 4 इकाई हैं। ब्लॉक्स की सहायता से 34 बनाइए। [Auto tap on the first row of table. Pulsate the Tens </a:t>
            </a:r>
            <a:r>
              <a:rPr b="1" lang="en-GB" sz="1200">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 button until tapped 3 times, then disable it. Then, pulsate the Ones </a:t>
            </a:r>
            <a:r>
              <a:rPr b="1" lang="en-GB" sz="1200">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 button until tapped 4 times, then disable it.]</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VO3: </a:t>
            </a:r>
            <a:r>
              <a:rPr lang="en-GB" sz="1200">
                <a:solidFill>
                  <a:schemeClr val="dk1"/>
                </a:solidFill>
                <a:latin typeface="Calibri"/>
                <a:ea typeface="Calibri"/>
                <a:cs typeface="Calibri"/>
                <a:sym typeface="Calibri"/>
              </a:rPr>
              <a:t>25 में 2 दहाई और 5 इकाई हैं। ब्लॉक्स की सहायता से 25 बनाइए। [Auto tap on the second row of table. Pulsate the Tens </a:t>
            </a:r>
            <a:r>
              <a:rPr b="1" lang="en-GB" sz="1200">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 button until tapped 2 times, then disable it. Then, pulsate the Ones </a:t>
            </a:r>
            <a:r>
              <a:rPr b="1" lang="en-GB" sz="1200">
                <a:solidFill>
                  <a:schemeClr val="dk1"/>
                </a:solidFill>
                <a:latin typeface="Calibri"/>
                <a:ea typeface="Calibri"/>
                <a:cs typeface="Calibri"/>
                <a:sym typeface="Calibri"/>
              </a:rPr>
              <a:t>+</a:t>
            </a:r>
            <a:r>
              <a:rPr lang="en-GB" sz="1200">
                <a:solidFill>
                  <a:schemeClr val="dk1"/>
                </a:solidFill>
                <a:latin typeface="Calibri"/>
                <a:ea typeface="Calibri"/>
                <a:cs typeface="Calibri"/>
                <a:sym typeface="Calibri"/>
              </a:rPr>
              <a:t> button until tapped 5 times, then disable it.]</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VO4: </a:t>
            </a:r>
            <a:r>
              <a:rPr lang="en-GB" sz="1200">
                <a:solidFill>
                  <a:schemeClr val="dk1"/>
                </a:solidFill>
                <a:latin typeface="Calibri"/>
                <a:ea typeface="Calibri"/>
                <a:cs typeface="Calibri"/>
                <a:sym typeface="Calibri"/>
              </a:rPr>
              <a:t>बहुत बढ़िया! अब दोनों संख्याओं को जोड़ते हैं।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VO5: </a:t>
            </a:r>
            <a:r>
              <a:rPr lang="en-GB" sz="1200">
                <a:solidFill>
                  <a:schemeClr val="dk1"/>
                </a:solidFill>
                <a:latin typeface="Calibri"/>
                <a:ea typeface="Calibri"/>
                <a:cs typeface="Calibri"/>
                <a:sym typeface="Calibri"/>
              </a:rPr>
              <a:t>पहले इकाइयों को जोड़ते हैं। [Pulsate the Ones blocks on both cells of first and second row and keep the Tens disabled. On tap, move each block to the third row of ones block on the sum card.]</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VO6: 4</a:t>
            </a:r>
            <a:r>
              <a:rPr lang="en-GB" sz="1200">
                <a:solidFill>
                  <a:schemeClr val="dk1"/>
                </a:solidFill>
                <a:latin typeface="Calibri"/>
                <a:ea typeface="Calibri"/>
                <a:cs typeface="Calibri"/>
                <a:sym typeface="Calibri"/>
              </a:rPr>
              <a:t> इकाई और 5 इकाई मिलाकर हुईं, 9 इकाई।</a:t>
            </a:r>
            <a:br>
              <a:rPr lang="en-GB" sz="1200">
                <a:solidFill>
                  <a:schemeClr val="dk1"/>
                </a:solidFill>
                <a:latin typeface="Calibri"/>
                <a:ea typeface="Calibri"/>
                <a:cs typeface="Calibri"/>
                <a:sym typeface="Calibri"/>
              </a:rPr>
            </a:br>
            <a:r>
              <a:rPr b="1" lang="en-GB" sz="1200">
                <a:solidFill>
                  <a:schemeClr val="dk1"/>
                </a:solidFill>
                <a:latin typeface="Calibri"/>
                <a:ea typeface="Calibri"/>
                <a:cs typeface="Calibri"/>
                <a:sym typeface="Calibri"/>
              </a:rPr>
              <a:t>VO7: </a:t>
            </a:r>
            <a:r>
              <a:rPr lang="en-GB" sz="1200">
                <a:solidFill>
                  <a:schemeClr val="dk1"/>
                </a:solidFill>
                <a:latin typeface="Calibri"/>
                <a:ea typeface="Calibri"/>
                <a:cs typeface="Calibri"/>
                <a:sym typeface="Calibri"/>
              </a:rPr>
              <a:t>अब दहाइयों को जोड़ते हैं। [Pulsate the tens rods on both cards  and on tap, move each rod to the Tens column of the sum card.]</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VO8: </a:t>
            </a:r>
            <a:r>
              <a:rPr lang="en-GB" sz="1200">
                <a:solidFill>
                  <a:schemeClr val="dk1"/>
                </a:solidFill>
                <a:latin typeface="Calibri"/>
                <a:ea typeface="Calibri"/>
                <a:cs typeface="Calibri"/>
                <a:sym typeface="Calibri"/>
              </a:rPr>
              <a:t>3 दहाई और 2 दहाई मिलाकर हुईं, 5 दहाई।</a:t>
            </a:r>
            <a:r>
              <a:rPr i="1" lang="en-GB" sz="1200">
                <a:solidFill>
                  <a:schemeClr val="dk1"/>
                </a:solidFill>
                <a:latin typeface="Calibri"/>
                <a:ea typeface="Calibri"/>
                <a:cs typeface="Calibri"/>
                <a:sym typeface="Calibri"/>
              </a:rPr>
              <a:t>[Highlight the rods on the sum card in sync with the VO.]</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VO9:</a:t>
            </a:r>
            <a:r>
              <a:rPr lang="en-GB" sz="1200">
                <a:solidFill>
                  <a:schemeClr val="dk1"/>
                </a:solidFill>
                <a:latin typeface="Calibri"/>
                <a:ea typeface="Calibri"/>
                <a:cs typeface="Calibri"/>
                <a:sym typeface="Calibri"/>
              </a:rPr>
              <a:t> अब हमारे पास कुल 5 दहाइयाँ और 9 इकाइयाँ हैं, यानी 59 </a:t>
            </a:r>
            <a:r>
              <a:rPr i="1" lang="en-GB" sz="1200">
                <a:solidFill>
                  <a:schemeClr val="dk1"/>
                </a:solidFill>
                <a:latin typeface="Calibri"/>
                <a:ea typeface="Calibri"/>
                <a:cs typeface="Calibri"/>
                <a:sym typeface="Calibri"/>
              </a:rPr>
              <a:t>[Highlight the rods, blocks, digits on the card and the number 59 in sync with the VO.]</a:t>
            </a:r>
            <a:endParaRPr sz="8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Completion VO:</a:t>
            </a:r>
            <a:r>
              <a:rPr lang="en-GB" sz="1200">
                <a:solidFill>
                  <a:schemeClr val="dk1"/>
                </a:solidFill>
                <a:latin typeface="Calibri"/>
                <a:ea typeface="Calibri"/>
                <a:cs typeface="Calibri"/>
                <a:sym typeface="Calibri"/>
              </a:rPr>
              <a:t> शाबाश! 34 और 25 को जोड़ने पर 52 मिलता है।</a:t>
            </a:r>
            <a:endParaRPr sz="800">
              <a:solidFill>
                <a:schemeClr val="dk1"/>
              </a:solidFill>
              <a:latin typeface="Calibri"/>
              <a:ea typeface="Calibri"/>
              <a:cs typeface="Calibri"/>
              <a:sym typeface="Calibri"/>
            </a:endParaRPr>
          </a:p>
          <a:p>
            <a:pPr indent="0" lvl="0" marL="0" marR="0" rtl="0" algn="l">
              <a:spcBef>
                <a:spcPts val="0"/>
              </a:spcBef>
              <a:spcAft>
                <a:spcPts val="0"/>
              </a:spcAft>
              <a:buNone/>
            </a:pPr>
            <a:br>
              <a:rPr lang="en-GB" sz="800">
                <a:solidFill>
                  <a:schemeClr val="dk1"/>
                </a:solidFill>
                <a:latin typeface="Calibri"/>
                <a:ea typeface="Calibri"/>
                <a:cs typeface="Calibri"/>
                <a:sym typeface="Calibri"/>
              </a:rPr>
            </a:br>
            <a:endParaRPr sz="600">
              <a:solidFill>
                <a:srgbClr val="1B2A44"/>
              </a:solidFill>
              <a:latin typeface="Calibri"/>
              <a:ea typeface="Calibri"/>
              <a:cs typeface="Calibri"/>
              <a:sym typeface="Calibri"/>
            </a:endParaRPr>
          </a:p>
        </p:txBody>
      </p:sp>
      <p:pic>
        <p:nvPicPr>
          <p:cNvPr id="161" name="Google Shape;161;p8"/>
          <p:cNvPicPr preferRelativeResize="0"/>
          <p:nvPr/>
        </p:nvPicPr>
        <p:blipFill rotWithShape="1">
          <a:blip r:embed="rId4">
            <a:alphaModFix/>
          </a:blip>
          <a:srcRect b="0" l="0" r="0" t="0"/>
          <a:stretch/>
        </p:blipFill>
        <p:spPr>
          <a:xfrm>
            <a:off x="1645414" y="3734495"/>
            <a:ext cx="2652788" cy="2304932"/>
          </a:xfrm>
          <a:prstGeom prst="rect">
            <a:avLst/>
          </a:prstGeom>
          <a:noFill/>
          <a:ln>
            <a:noFill/>
          </a:ln>
        </p:spPr>
      </p:pic>
      <p:pic>
        <p:nvPicPr>
          <p:cNvPr id="162" name="Google Shape;162;p8"/>
          <p:cNvPicPr preferRelativeResize="0"/>
          <p:nvPr/>
        </p:nvPicPr>
        <p:blipFill rotWithShape="1">
          <a:blip r:embed="rId5">
            <a:alphaModFix/>
          </a:blip>
          <a:srcRect b="35125" l="26141" r="64933" t="13644"/>
          <a:stretch/>
        </p:blipFill>
        <p:spPr>
          <a:xfrm>
            <a:off x="2407474" y="4132138"/>
            <a:ext cx="91538" cy="542592"/>
          </a:xfrm>
          <a:prstGeom prst="rect">
            <a:avLst/>
          </a:prstGeom>
          <a:noFill/>
          <a:ln>
            <a:noFill/>
          </a:ln>
        </p:spPr>
      </p:pic>
      <p:sp>
        <p:nvSpPr>
          <p:cNvPr id="163" name="Google Shape;163;p8"/>
          <p:cNvSpPr txBox="1"/>
          <p:nvPr/>
        </p:nvSpPr>
        <p:spPr>
          <a:xfrm>
            <a:off x="4594151" y="4196248"/>
            <a:ext cx="9753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chemeClr val="dk1"/>
                </a:solidFill>
                <a:latin typeface="Calibri"/>
                <a:ea typeface="Calibri"/>
                <a:cs typeface="Calibri"/>
                <a:sym typeface="Calibri"/>
              </a:rPr>
              <a:t>3 4 </a:t>
            </a:r>
            <a:endParaRPr b="1" sz="3200">
              <a:solidFill>
                <a:schemeClr val="dk1"/>
              </a:solidFill>
              <a:latin typeface="Calibri"/>
              <a:ea typeface="Calibri"/>
              <a:cs typeface="Calibri"/>
              <a:sym typeface="Calibri"/>
            </a:endParaRPr>
          </a:p>
        </p:txBody>
      </p:sp>
      <p:sp>
        <p:nvSpPr>
          <p:cNvPr id="164" name="Google Shape;164;p8"/>
          <p:cNvSpPr txBox="1"/>
          <p:nvPr/>
        </p:nvSpPr>
        <p:spPr>
          <a:xfrm>
            <a:off x="4594151" y="4758758"/>
            <a:ext cx="9753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chemeClr val="dk1"/>
                </a:solidFill>
                <a:latin typeface="Calibri"/>
                <a:ea typeface="Calibri"/>
                <a:cs typeface="Calibri"/>
                <a:sym typeface="Calibri"/>
              </a:rPr>
              <a:t>2 5 </a:t>
            </a:r>
            <a:endParaRPr b="1" sz="3200">
              <a:solidFill>
                <a:schemeClr val="dk1"/>
              </a:solidFill>
              <a:latin typeface="Calibri"/>
              <a:ea typeface="Calibri"/>
              <a:cs typeface="Calibri"/>
              <a:sym typeface="Calibri"/>
            </a:endParaRPr>
          </a:p>
        </p:txBody>
      </p:sp>
      <p:cxnSp>
        <p:nvCxnSpPr>
          <p:cNvPr id="165" name="Google Shape;165;p8"/>
          <p:cNvCxnSpPr/>
          <p:nvPr/>
        </p:nvCxnSpPr>
        <p:spPr>
          <a:xfrm>
            <a:off x="4386671" y="5343533"/>
            <a:ext cx="109889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166" name="Google Shape;166;p8"/>
          <p:cNvSpPr/>
          <p:nvPr/>
        </p:nvSpPr>
        <p:spPr>
          <a:xfrm>
            <a:off x="4572149" y="5447000"/>
            <a:ext cx="816148" cy="571500"/>
          </a:xfrm>
          <a:prstGeom prst="rect">
            <a:avLst/>
          </a:prstGeom>
          <a:solidFill>
            <a:srgbClr val="D8D8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4000">
                <a:solidFill>
                  <a:schemeClr val="lt1"/>
                </a:solidFill>
                <a:latin typeface="Calibri"/>
                <a:ea typeface="Calibri"/>
                <a:cs typeface="Calibri"/>
                <a:sym typeface="Calibri"/>
              </a:rPr>
              <a:t>?</a:t>
            </a:r>
            <a:endParaRPr b="1" sz="4000">
              <a:solidFill>
                <a:schemeClr val="lt1"/>
              </a:solidFill>
              <a:latin typeface="Calibri"/>
              <a:ea typeface="Calibri"/>
              <a:cs typeface="Calibri"/>
              <a:sym typeface="Calibri"/>
            </a:endParaRPr>
          </a:p>
        </p:txBody>
      </p:sp>
      <p:pic>
        <p:nvPicPr>
          <p:cNvPr id="167" name="Google Shape;167;p8"/>
          <p:cNvPicPr preferRelativeResize="0"/>
          <p:nvPr/>
        </p:nvPicPr>
        <p:blipFill rotWithShape="1">
          <a:blip r:embed="rId5">
            <a:alphaModFix/>
          </a:blip>
          <a:srcRect b="35125" l="26141" r="64933" t="13644"/>
          <a:stretch/>
        </p:blipFill>
        <p:spPr>
          <a:xfrm>
            <a:off x="2249888" y="4132138"/>
            <a:ext cx="91538" cy="542592"/>
          </a:xfrm>
          <a:prstGeom prst="rect">
            <a:avLst/>
          </a:prstGeom>
          <a:noFill/>
          <a:ln>
            <a:noFill/>
          </a:ln>
        </p:spPr>
      </p:pic>
      <p:pic>
        <p:nvPicPr>
          <p:cNvPr id="168" name="Google Shape;168;p8"/>
          <p:cNvPicPr preferRelativeResize="0"/>
          <p:nvPr/>
        </p:nvPicPr>
        <p:blipFill rotWithShape="1">
          <a:blip r:embed="rId5">
            <a:alphaModFix/>
          </a:blip>
          <a:srcRect b="35125" l="26141" r="64933" t="13644"/>
          <a:stretch/>
        </p:blipFill>
        <p:spPr>
          <a:xfrm>
            <a:off x="2562571" y="4132138"/>
            <a:ext cx="91538" cy="542592"/>
          </a:xfrm>
          <a:prstGeom prst="rect">
            <a:avLst/>
          </a:prstGeom>
          <a:noFill/>
          <a:ln>
            <a:noFill/>
          </a:ln>
        </p:spPr>
      </p:pic>
      <p:pic>
        <p:nvPicPr>
          <p:cNvPr id="169" name="Google Shape;169;p8"/>
          <p:cNvPicPr preferRelativeResize="0"/>
          <p:nvPr/>
        </p:nvPicPr>
        <p:blipFill rotWithShape="1">
          <a:blip r:embed="rId5">
            <a:alphaModFix/>
          </a:blip>
          <a:srcRect b="35125" l="26141" r="64933" t="13644"/>
          <a:stretch/>
        </p:blipFill>
        <p:spPr>
          <a:xfrm>
            <a:off x="2249888" y="4764749"/>
            <a:ext cx="91538" cy="542592"/>
          </a:xfrm>
          <a:prstGeom prst="rect">
            <a:avLst/>
          </a:prstGeom>
          <a:noFill/>
          <a:ln>
            <a:noFill/>
          </a:ln>
        </p:spPr>
      </p:pic>
      <p:pic>
        <p:nvPicPr>
          <p:cNvPr id="170" name="Google Shape;170;p8"/>
          <p:cNvPicPr preferRelativeResize="0"/>
          <p:nvPr/>
        </p:nvPicPr>
        <p:blipFill rotWithShape="1">
          <a:blip r:embed="rId5">
            <a:alphaModFix/>
          </a:blip>
          <a:srcRect b="35125" l="26141" r="64933" t="13644"/>
          <a:stretch/>
        </p:blipFill>
        <p:spPr>
          <a:xfrm>
            <a:off x="2404985" y="4764749"/>
            <a:ext cx="91538" cy="542592"/>
          </a:xfrm>
          <a:prstGeom prst="rect">
            <a:avLst/>
          </a:prstGeom>
          <a:noFill/>
          <a:ln>
            <a:noFill/>
          </a:ln>
        </p:spPr>
      </p:pic>
      <p:pic>
        <p:nvPicPr>
          <p:cNvPr id="171" name="Google Shape;171;p8"/>
          <p:cNvPicPr preferRelativeResize="0"/>
          <p:nvPr/>
        </p:nvPicPr>
        <p:blipFill rotWithShape="1">
          <a:blip r:embed="rId5">
            <a:alphaModFix/>
          </a:blip>
          <a:srcRect b="13517" l="58536" r="23631" t="70894"/>
          <a:stretch/>
        </p:blipFill>
        <p:spPr>
          <a:xfrm>
            <a:off x="3206022" y="4219485"/>
            <a:ext cx="123796" cy="111760"/>
          </a:xfrm>
          <a:prstGeom prst="rect">
            <a:avLst/>
          </a:prstGeom>
          <a:noFill/>
          <a:ln>
            <a:noFill/>
          </a:ln>
        </p:spPr>
      </p:pic>
      <p:pic>
        <p:nvPicPr>
          <p:cNvPr id="172" name="Google Shape;172;p8"/>
          <p:cNvPicPr preferRelativeResize="0"/>
          <p:nvPr/>
        </p:nvPicPr>
        <p:blipFill rotWithShape="1">
          <a:blip r:embed="rId5">
            <a:alphaModFix/>
          </a:blip>
          <a:srcRect b="13517" l="58536" r="23631" t="70894"/>
          <a:stretch/>
        </p:blipFill>
        <p:spPr>
          <a:xfrm>
            <a:off x="3360794" y="4219485"/>
            <a:ext cx="123796" cy="111760"/>
          </a:xfrm>
          <a:prstGeom prst="rect">
            <a:avLst/>
          </a:prstGeom>
          <a:noFill/>
          <a:ln>
            <a:noFill/>
          </a:ln>
        </p:spPr>
      </p:pic>
      <p:pic>
        <p:nvPicPr>
          <p:cNvPr id="173" name="Google Shape;173;p8"/>
          <p:cNvPicPr preferRelativeResize="0"/>
          <p:nvPr/>
        </p:nvPicPr>
        <p:blipFill rotWithShape="1">
          <a:blip r:embed="rId5">
            <a:alphaModFix/>
          </a:blip>
          <a:srcRect b="13517" l="58536" r="23631" t="70894"/>
          <a:stretch/>
        </p:blipFill>
        <p:spPr>
          <a:xfrm>
            <a:off x="3515891" y="4219485"/>
            <a:ext cx="123796" cy="111760"/>
          </a:xfrm>
          <a:prstGeom prst="rect">
            <a:avLst/>
          </a:prstGeom>
          <a:noFill/>
          <a:ln>
            <a:noFill/>
          </a:ln>
        </p:spPr>
      </p:pic>
      <p:pic>
        <p:nvPicPr>
          <p:cNvPr id="174" name="Google Shape;174;p8"/>
          <p:cNvPicPr preferRelativeResize="0"/>
          <p:nvPr/>
        </p:nvPicPr>
        <p:blipFill rotWithShape="1">
          <a:blip r:embed="rId5">
            <a:alphaModFix/>
          </a:blip>
          <a:srcRect b="13517" l="58536" r="23631" t="70894"/>
          <a:stretch/>
        </p:blipFill>
        <p:spPr>
          <a:xfrm>
            <a:off x="3670988" y="4219485"/>
            <a:ext cx="123796" cy="111760"/>
          </a:xfrm>
          <a:prstGeom prst="rect">
            <a:avLst/>
          </a:prstGeom>
          <a:noFill/>
          <a:ln>
            <a:noFill/>
          </a:ln>
        </p:spPr>
      </p:pic>
      <p:pic>
        <p:nvPicPr>
          <p:cNvPr id="175" name="Google Shape;175;p8"/>
          <p:cNvPicPr preferRelativeResize="0"/>
          <p:nvPr/>
        </p:nvPicPr>
        <p:blipFill rotWithShape="1">
          <a:blip r:embed="rId5">
            <a:alphaModFix/>
          </a:blip>
          <a:srcRect b="13517" l="58536" r="23631" t="70894"/>
          <a:stretch/>
        </p:blipFill>
        <p:spPr>
          <a:xfrm>
            <a:off x="3236998" y="4818776"/>
            <a:ext cx="123796" cy="111760"/>
          </a:xfrm>
          <a:prstGeom prst="rect">
            <a:avLst/>
          </a:prstGeom>
          <a:noFill/>
          <a:ln>
            <a:noFill/>
          </a:ln>
        </p:spPr>
      </p:pic>
      <p:pic>
        <p:nvPicPr>
          <p:cNvPr id="176" name="Google Shape;176;p8"/>
          <p:cNvPicPr preferRelativeResize="0"/>
          <p:nvPr/>
        </p:nvPicPr>
        <p:blipFill rotWithShape="1">
          <a:blip r:embed="rId5">
            <a:alphaModFix/>
          </a:blip>
          <a:srcRect b="13517" l="58536" r="23631" t="70894"/>
          <a:stretch/>
        </p:blipFill>
        <p:spPr>
          <a:xfrm>
            <a:off x="3391770" y="4818776"/>
            <a:ext cx="123796" cy="111760"/>
          </a:xfrm>
          <a:prstGeom prst="rect">
            <a:avLst/>
          </a:prstGeom>
          <a:noFill/>
          <a:ln>
            <a:noFill/>
          </a:ln>
        </p:spPr>
      </p:pic>
      <p:pic>
        <p:nvPicPr>
          <p:cNvPr id="177" name="Google Shape;177;p8"/>
          <p:cNvPicPr preferRelativeResize="0"/>
          <p:nvPr/>
        </p:nvPicPr>
        <p:blipFill rotWithShape="1">
          <a:blip r:embed="rId5">
            <a:alphaModFix/>
          </a:blip>
          <a:srcRect b="13517" l="58536" r="23631" t="70894"/>
          <a:stretch/>
        </p:blipFill>
        <p:spPr>
          <a:xfrm>
            <a:off x="3546867" y="4818776"/>
            <a:ext cx="123796" cy="111760"/>
          </a:xfrm>
          <a:prstGeom prst="rect">
            <a:avLst/>
          </a:prstGeom>
          <a:noFill/>
          <a:ln>
            <a:noFill/>
          </a:ln>
        </p:spPr>
      </p:pic>
      <p:pic>
        <p:nvPicPr>
          <p:cNvPr id="178" name="Google Shape;178;p8"/>
          <p:cNvPicPr preferRelativeResize="0"/>
          <p:nvPr/>
        </p:nvPicPr>
        <p:blipFill rotWithShape="1">
          <a:blip r:embed="rId5">
            <a:alphaModFix/>
          </a:blip>
          <a:srcRect b="13517" l="58536" r="23631" t="70894"/>
          <a:stretch/>
        </p:blipFill>
        <p:spPr>
          <a:xfrm>
            <a:off x="3701964" y="4818776"/>
            <a:ext cx="123796" cy="111760"/>
          </a:xfrm>
          <a:prstGeom prst="rect">
            <a:avLst/>
          </a:prstGeom>
          <a:noFill/>
          <a:ln>
            <a:noFill/>
          </a:ln>
        </p:spPr>
      </p:pic>
      <p:pic>
        <p:nvPicPr>
          <p:cNvPr id="179" name="Google Shape;179;p8"/>
          <p:cNvPicPr preferRelativeResize="0"/>
          <p:nvPr/>
        </p:nvPicPr>
        <p:blipFill rotWithShape="1">
          <a:blip r:embed="rId5">
            <a:alphaModFix/>
          </a:blip>
          <a:srcRect b="13517" l="58536" r="23631" t="70894"/>
          <a:stretch/>
        </p:blipFill>
        <p:spPr>
          <a:xfrm>
            <a:off x="3236998" y="4980165"/>
            <a:ext cx="123796" cy="111760"/>
          </a:xfrm>
          <a:prstGeom prst="rect">
            <a:avLst/>
          </a:prstGeom>
          <a:noFill/>
          <a:ln>
            <a:noFill/>
          </a:ln>
        </p:spPr>
      </p:pic>
      <p:pic>
        <p:nvPicPr>
          <p:cNvPr id="180" name="Google Shape;180;p8"/>
          <p:cNvPicPr preferRelativeResize="0"/>
          <p:nvPr/>
        </p:nvPicPr>
        <p:blipFill rotWithShape="1">
          <a:blip r:embed="rId4">
            <a:alphaModFix/>
          </a:blip>
          <a:srcRect b="0" l="0" r="0" t="0"/>
          <a:stretch/>
        </p:blipFill>
        <p:spPr>
          <a:xfrm>
            <a:off x="1680747" y="695205"/>
            <a:ext cx="2652788" cy="2304932"/>
          </a:xfrm>
          <a:prstGeom prst="rect">
            <a:avLst/>
          </a:prstGeom>
          <a:noFill/>
          <a:ln>
            <a:noFill/>
          </a:ln>
        </p:spPr>
      </p:pic>
      <p:sp>
        <p:nvSpPr>
          <p:cNvPr id="181" name="Google Shape;181;p8"/>
          <p:cNvSpPr txBox="1"/>
          <p:nvPr/>
        </p:nvSpPr>
        <p:spPr>
          <a:xfrm>
            <a:off x="4289401" y="1683486"/>
            <a:ext cx="56549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
        <p:nvSpPr>
          <p:cNvPr id="182" name="Google Shape;182;p8"/>
          <p:cNvSpPr txBox="1"/>
          <p:nvPr/>
        </p:nvSpPr>
        <p:spPr>
          <a:xfrm>
            <a:off x="4548431" y="1098711"/>
            <a:ext cx="9753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chemeClr val="dk1"/>
                </a:solidFill>
                <a:latin typeface="Calibri"/>
                <a:ea typeface="Calibri"/>
                <a:cs typeface="Calibri"/>
                <a:sym typeface="Calibri"/>
              </a:rPr>
              <a:t>3 4 </a:t>
            </a:r>
            <a:endParaRPr b="1" sz="3200">
              <a:solidFill>
                <a:schemeClr val="dk1"/>
              </a:solidFill>
              <a:latin typeface="Calibri"/>
              <a:ea typeface="Calibri"/>
              <a:cs typeface="Calibri"/>
              <a:sym typeface="Calibri"/>
            </a:endParaRPr>
          </a:p>
        </p:txBody>
      </p:sp>
      <p:sp>
        <p:nvSpPr>
          <p:cNvPr id="183" name="Google Shape;183;p8"/>
          <p:cNvSpPr txBox="1"/>
          <p:nvPr/>
        </p:nvSpPr>
        <p:spPr>
          <a:xfrm>
            <a:off x="4548431" y="1661221"/>
            <a:ext cx="97536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200">
                <a:solidFill>
                  <a:schemeClr val="dk1"/>
                </a:solidFill>
                <a:latin typeface="Calibri"/>
                <a:ea typeface="Calibri"/>
                <a:cs typeface="Calibri"/>
                <a:sym typeface="Calibri"/>
              </a:rPr>
              <a:t>2 5 </a:t>
            </a:r>
            <a:endParaRPr b="1" sz="3200">
              <a:solidFill>
                <a:schemeClr val="dk1"/>
              </a:solidFill>
              <a:latin typeface="Calibri"/>
              <a:ea typeface="Calibri"/>
              <a:cs typeface="Calibri"/>
              <a:sym typeface="Calibri"/>
            </a:endParaRPr>
          </a:p>
        </p:txBody>
      </p:sp>
      <p:pic>
        <p:nvPicPr>
          <p:cNvPr id="184" name="Google Shape;184;p8"/>
          <p:cNvPicPr preferRelativeResize="0"/>
          <p:nvPr/>
        </p:nvPicPr>
        <p:blipFill rotWithShape="1">
          <a:blip r:embed="rId5">
            <a:alphaModFix/>
          </a:blip>
          <a:srcRect b="0" l="0" r="0" t="0"/>
          <a:stretch/>
        </p:blipFill>
        <p:spPr>
          <a:xfrm>
            <a:off x="5487213" y="1661221"/>
            <a:ext cx="1963565" cy="2027794"/>
          </a:xfrm>
          <a:prstGeom prst="rect">
            <a:avLst/>
          </a:prstGeom>
          <a:noFill/>
          <a:ln>
            <a:noFill/>
          </a:ln>
        </p:spPr>
      </p:pic>
      <p:sp>
        <p:nvSpPr>
          <p:cNvPr id="185" name="Google Shape;185;p8"/>
          <p:cNvSpPr txBox="1"/>
          <p:nvPr/>
        </p:nvSpPr>
        <p:spPr>
          <a:xfrm>
            <a:off x="1274197" y="4749234"/>
            <a:ext cx="565496"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3200">
                <a:solidFill>
                  <a:schemeClr val="dk1"/>
                </a:solidFill>
                <a:latin typeface="Calibri"/>
                <a:ea typeface="Calibri"/>
                <a:cs typeface="Calibri"/>
                <a:sym typeface="Calibri"/>
              </a:rPr>
              <a:t>+</a:t>
            </a:r>
            <a:endParaRPr sz="32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500"/>
                                        <p:tgtEl>
                                          <p:spTgt spid="1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500"/>
                                        <p:tgtEl>
                                          <p:spTgt spid="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1"/>
                                        </p:tgtEl>
                                        <p:attrNameLst>
                                          <p:attrName>style.visibility</p:attrName>
                                        </p:attrNameLst>
                                      </p:cBhvr>
                                      <p:to>
                                        <p:strVal val="visible"/>
                                      </p:to>
                                    </p:set>
                                    <p:animEffect filter="fade" transition="in">
                                      <p:cBhvr>
                                        <p:cTn dur="500"/>
                                        <p:tgtEl>
                                          <p:spTgt spid="1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500"/>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9"/>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6 · 06_G1_PV_VBLOCKS.png</a:t>
            </a:r>
            <a:endParaRPr/>
          </a:p>
        </p:txBody>
      </p:sp>
      <p:pic>
        <p:nvPicPr>
          <p:cNvPr descr="06_G1_PV_VBLOCKS.png" id="191" name="Google Shape;191;p9"/>
          <p:cNvPicPr preferRelativeResize="0"/>
          <p:nvPr/>
        </p:nvPicPr>
        <p:blipFill rotWithShape="1">
          <a:blip r:embed="rId3">
            <a:alphaModFix/>
          </a:blip>
          <a:srcRect b="0" l="0" r="0" t="0"/>
          <a:stretch/>
        </p:blipFill>
        <p:spPr>
          <a:xfrm>
            <a:off x="422274" y="468815"/>
            <a:ext cx="7341959" cy="3695699"/>
          </a:xfrm>
          <a:prstGeom prst="rect">
            <a:avLst/>
          </a:prstGeom>
          <a:noFill/>
          <a:ln>
            <a:noFill/>
          </a:ln>
        </p:spPr>
      </p:pic>
      <p:sp>
        <p:nvSpPr>
          <p:cNvPr id="192" name="Google Shape;192;p9"/>
          <p:cNvSpPr txBox="1"/>
          <p:nvPr/>
        </p:nvSpPr>
        <p:spPr>
          <a:xfrm>
            <a:off x="7825740" y="137160"/>
            <a:ext cx="4000195" cy="550150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05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GB" sz="1100">
                <a:solidFill>
                  <a:schemeClr val="dk1"/>
                </a:solidFill>
                <a:latin typeface="Calibri"/>
                <a:ea typeface="Calibri"/>
                <a:cs typeface="Calibri"/>
                <a:sym typeface="Calibri"/>
              </a:rPr>
              <a:t>Replace the entire slide content with the following:</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Title Text 1:</a:t>
            </a:r>
            <a:r>
              <a:rPr lang="en-GB" sz="1100">
                <a:solidFill>
                  <a:schemeClr val="dk1"/>
                </a:solidFill>
                <a:latin typeface="Calibri"/>
                <a:ea typeface="Calibri"/>
                <a:cs typeface="Calibri"/>
                <a:sym typeface="Calibri"/>
              </a:rPr>
              <a:t> संख्याएँ जोड़िए।</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Equation:</a:t>
            </a:r>
            <a:r>
              <a:rPr lang="en-GB" sz="1100">
                <a:solidFill>
                  <a:schemeClr val="dk1"/>
                </a:solidFill>
                <a:latin typeface="Calibri"/>
                <a:ea typeface="Calibri"/>
                <a:cs typeface="Calibri"/>
                <a:sym typeface="Calibri"/>
              </a:rPr>
              <a:t> </a:t>
            </a:r>
            <a:r>
              <a:rPr b="1" lang="en-GB" sz="1100">
                <a:solidFill>
                  <a:schemeClr val="dk1"/>
                </a:solidFill>
                <a:latin typeface="Calibri"/>
                <a:ea typeface="Calibri"/>
                <a:cs typeface="Calibri"/>
                <a:sym typeface="Calibri"/>
              </a:rPr>
              <a:t>42 + 35 =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GB" sz="1100">
                <a:solidFill>
                  <a:schemeClr val="dk1"/>
                </a:solidFill>
                <a:latin typeface="Calibri"/>
                <a:ea typeface="Calibri"/>
                <a:cs typeface="Calibri"/>
                <a:sym typeface="Calibri"/>
              </a:rPr>
              <a:t>Show the PV tables with the numbers built using blocks one by one.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VO1:</a:t>
            </a:r>
            <a:r>
              <a:rPr lang="en-GB" sz="1100">
                <a:solidFill>
                  <a:schemeClr val="dk1"/>
                </a:solidFill>
                <a:latin typeface="Calibri"/>
                <a:ea typeface="Calibri"/>
                <a:cs typeface="Calibri"/>
                <a:sym typeface="Calibri"/>
              </a:rPr>
              <a:t> 42 और 35 को जोड़िए।</a:t>
            </a:r>
            <a:r>
              <a:rPr i="1" lang="en-GB" sz="1100">
                <a:solidFill>
                  <a:schemeClr val="dk1"/>
                </a:solidFill>
                <a:latin typeface="Calibri"/>
                <a:ea typeface="Calibri"/>
                <a:cs typeface="Calibri"/>
                <a:sym typeface="Calibri"/>
              </a:rPr>
              <a:t> [Firstly, the ones blocks tappable and then the tens blocks tappable. As the child taps each block, move it to its respective sum cards. If there is any inactivity for 7 seconds, pulsate the blocks.]</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Title Text 2:</a:t>
            </a:r>
            <a:r>
              <a:rPr lang="en-GB" sz="1100">
                <a:solidFill>
                  <a:schemeClr val="dk1"/>
                </a:solidFill>
                <a:latin typeface="Calibri"/>
                <a:ea typeface="Calibri"/>
                <a:cs typeface="Calibri"/>
                <a:sym typeface="Calibri"/>
              </a:rPr>
              <a:t> सही जोड़ चुनिए। </a:t>
            </a:r>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VO2:</a:t>
            </a:r>
            <a:r>
              <a:rPr lang="en-GB" sz="1100">
                <a:solidFill>
                  <a:schemeClr val="dk1"/>
                </a:solidFill>
                <a:latin typeface="Calibri"/>
                <a:ea typeface="Calibri"/>
                <a:cs typeface="Calibri"/>
                <a:sym typeface="Calibri"/>
              </a:rPr>
              <a:t> बहुत बढ़िया! अब सही जोड़ चुनिए। </a:t>
            </a:r>
            <a:r>
              <a:rPr i="1" lang="en-GB" sz="1100">
                <a:solidFill>
                  <a:schemeClr val="dk1"/>
                </a:solidFill>
                <a:latin typeface="Calibri"/>
                <a:ea typeface="Calibri"/>
                <a:cs typeface="Calibri"/>
                <a:sym typeface="Calibri"/>
              </a:rPr>
              <a:t>[Move the sum PV table to the center, replacing the first two PV tables and show the answer options.]</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Correct answer:</a:t>
            </a:r>
            <a:r>
              <a:rPr lang="en-GB" sz="1100">
                <a:solidFill>
                  <a:schemeClr val="dk1"/>
                </a:solidFill>
                <a:latin typeface="Calibri"/>
                <a:ea typeface="Calibri"/>
                <a:cs typeface="Calibri"/>
                <a:sym typeface="Calibri"/>
              </a:rPr>
              <a:t> शाबाश! 42 और 35 का जोड़ 77 है।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i="1" lang="en-GB" sz="1100">
                <a:solidFill>
                  <a:schemeClr val="dk1"/>
                </a:solidFill>
                <a:latin typeface="Calibri"/>
                <a:ea typeface="Calibri"/>
                <a:cs typeface="Calibri"/>
                <a:sym typeface="Calibri"/>
              </a:rPr>
              <a:t>[Move the correct answer option to the equation, replacing the </a:t>
            </a:r>
            <a:r>
              <a:rPr b="1" i="1" lang="en-GB" sz="1100">
                <a:solidFill>
                  <a:schemeClr val="dk1"/>
                </a:solidFill>
                <a:latin typeface="Calibri"/>
                <a:ea typeface="Calibri"/>
                <a:cs typeface="Calibri"/>
                <a:sym typeface="Calibri"/>
              </a:rPr>
              <a:t>“?”</a:t>
            </a:r>
            <a:r>
              <a:rPr i="1" lang="en-GB" sz="1100">
                <a:solidFill>
                  <a:schemeClr val="dk1"/>
                </a:solidFill>
                <a:latin typeface="Calibri"/>
                <a:ea typeface="Calibri"/>
                <a:cs typeface="Calibri"/>
                <a:sym typeface="Calibri"/>
              </a:rPr>
              <a:t> symbol.]</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Feedback/hint</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WA1:</a:t>
            </a:r>
            <a:r>
              <a:rPr lang="en-GB" sz="1100">
                <a:solidFill>
                  <a:schemeClr val="dk1"/>
                </a:solidFill>
                <a:latin typeface="Calibri"/>
                <a:ea typeface="Calibri"/>
                <a:cs typeface="Calibri"/>
                <a:sym typeface="Calibri"/>
              </a:rPr>
              <a:t> Wiggle + VO: </a:t>
            </a:r>
            <a:r>
              <a:rPr b="1" lang="en-GB" sz="1100">
                <a:solidFill>
                  <a:schemeClr val="dk1"/>
                </a:solidFill>
                <a:latin typeface="Calibri"/>
                <a:ea typeface="Calibri"/>
                <a:cs typeface="Calibri"/>
                <a:sym typeface="Calibri"/>
              </a:rPr>
              <a:t>ब्लॉक्स को गिनिए और सही जोड़ चुनिए।</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WA2:</a:t>
            </a:r>
            <a:r>
              <a:rPr lang="en-GB" sz="1100">
                <a:solidFill>
                  <a:schemeClr val="dk1"/>
                </a:solidFill>
                <a:latin typeface="Calibri"/>
                <a:ea typeface="Calibri"/>
                <a:cs typeface="Calibri"/>
                <a:sym typeface="Calibri"/>
              </a:rPr>
              <a:t> Wiggle + VO: </a:t>
            </a:r>
            <a:r>
              <a:rPr b="1" lang="en-GB" sz="1100">
                <a:solidFill>
                  <a:schemeClr val="dk1"/>
                </a:solidFill>
                <a:latin typeface="Calibri"/>
                <a:ea typeface="Calibri"/>
                <a:cs typeface="Calibri"/>
                <a:sym typeface="Calibri"/>
              </a:rPr>
              <a:t>ध्यान से देखिए, कुल 7 दहाइयाँ और 7 इकाइयाँ हैं। </a:t>
            </a:r>
            <a:r>
              <a:rPr i="1" lang="en-GB" sz="1100">
                <a:solidFill>
                  <a:schemeClr val="dk1"/>
                </a:solidFill>
                <a:latin typeface="Calibri"/>
                <a:ea typeface="Calibri"/>
                <a:cs typeface="Calibri"/>
                <a:sym typeface="Calibri"/>
              </a:rPr>
              <a:t>[Highlight the blocks in sync with the VO]</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100">
                <a:solidFill>
                  <a:schemeClr val="dk1"/>
                </a:solidFill>
                <a:latin typeface="Calibri"/>
                <a:ea typeface="Calibri"/>
                <a:cs typeface="Calibri"/>
                <a:sym typeface="Calibri"/>
              </a:rPr>
              <a:t>WA3:</a:t>
            </a:r>
            <a:r>
              <a:rPr lang="en-GB" sz="1100">
                <a:solidFill>
                  <a:schemeClr val="dk1"/>
                </a:solidFill>
                <a:latin typeface="Calibri"/>
                <a:ea typeface="Calibri"/>
                <a:cs typeface="Calibri"/>
                <a:sym typeface="Calibri"/>
              </a:rPr>
              <a:t> Wiggle + highlight the correct option + fade out the other options.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900">
              <a:solidFill>
                <a:srgbClr val="1B2A44"/>
              </a:solidFill>
              <a:latin typeface="Calibri"/>
              <a:ea typeface="Calibri"/>
              <a:cs typeface="Calibri"/>
              <a:sym typeface="Calibri"/>
            </a:endParaRPr>
          </a:p>
        </p:txBody>
      </p:sp>
      <p:pic>
        <p:nvPicPr>
          <p:cNvPr id="193" name="Google Shape;193;p9"/>
          <p:cNvPicPr preferRelativeResize="0"/>
          <p:nvPr/>
        </p:nvPicPr>
        <p:blipFill rotWithShape="1">
          <a:blip r:embed="rId4">
            <a:alphaModFix/>
          </a:blip>
          <a:srcRect b="0" l="0" r="0" t="0"/>
          <a:stretch/>
        </p:blipFill>
        <p:spPr>
          <a:xfrm>
            <a:off x="1667093" y="1269329"/>
            <a:ext cx="2706240" cy="2351375"/>
          </a:xfrm>
          <a:prstGeom prst="rect">
            <a:avLst/>
          </a:prstGeom>
          <a:noFill/>
          <a:ln>
            <a:noFill/>
          </a:ln>
        </p:spPr>
      </p:pic>
      <p:pic>
        <p:nvPicPr>
          <p:cNvPr id="194" name="Google Shape;194;p9"/>
          <p:cNvPicPr preferRelativeResize="0"/>
          <p:nvPr/>
        </p:nvPicPr>
        <p:blipFill rotWithShape="1">
          <a:blip r:embed="rId5">
            <a:alphaModFix/>
          </a:blip>
          <a:srcRect b="35125" l="26141" r="64933" t="13644"/>
          <a:stretch/>
        </p:blipFill>
        <p:spPr>
          <a:xfrm>
            <a:off x="2455643" y="1716054"/>
            <a:ext cx="91538" cy="542592"/>
          </a:xfrm>
          <a:prstGeom prst="rect">
            <a:avLst/>
          </a:prstGeom>
          <a:noFill/>
          <a:ln>
            <a:noFill/>
          </a:ln>
        </p:spPr>
      </p:pic>
      <p:sp>
        <p:nvSpPr>
          <p:cNvPr id="195" name="Google Shape;195;p9"/>
          <p:cNvSpPr txBox="1"/>
          <p:nvPr/>
        </p:nvSpPr>
        <p:spPr>
          <a:xfrm>
            <a:off x="4642320" y="1780164"/>
            <a:ext cx="9753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chemeClr val="dk1"/>
                </a:solidFill>
                <a:latin typeface="Calibri"/>
                <a:ea typeface="Calibri"/>
                <a:cs typeface="Calibri"/>
                <a:sym typeface="Calibri"/>
              </a:rPr>
              <a:t>4</a:t>
            </a:r>
            <a:r>
              <a:rPr b="1" lang="en-GB" sz="1200">
                <a:solidFill>
                  <a:schemeClr val="dk1"/>
                </a:solidFill>
                <a:latin typeface="Calibri"/>
                <a:ea typeface="Calibri"/>
                <a:cs typeface="Calibri"/>
                <a:sym typeface="Calibri"/>
              </a:rPr>
              <a:t> </a:t>
            </a:r>
            <a:r>
              <a:rPr b="1" lang="en-GB" sz="3600">
                <a:solidFill>
                  <a:schemeClr val="dk1"/>
                </a:solidFill>
                <a:latin typeface="Calibri"/>
                <a:ea typeface="Calibri"/>
                <a:cs typeface="Calibri"/>
                <a:sym typeface="Calibri"/>
              </a:rPr>
              <a:t>2 </a:t>
            </a:r>
            <a:endParaRPr b="1" sz="3600">
              <a:solidFill>
                <a:schemeClr val="dk1"/>
              </a:solidFill>
              <a:latin typeface="Calibri"/>
              <a:ea typeface="Calibri"/>
              <a:cs typeface="Calibri"/>
              <a:sym typeface="Calibri"/>
            </a:endParaRPr>
          </a:p>
        </p:txBody>
      </p:sp>
      <p:sp>
        <p:nvSpPr>
          <p:cNvPr id="196" name="Google Shape;196;p9"/>
          <p:cNvSpPr txBox="1"/>
          <p:nvPr/>
        </p:nvSpPr>
        <p:spPr>
          <a:xfrm>
            <a:off x="4642320" y="2342674"/>
            <a:ext cx="9753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chemeClr val="dk1"/>
                </a:solidFill>
                <a:latin typeface="Calibri"/>
                <a:ea typeface="Calibri"/>
                <a:cs typeface="Calibri"/>
                <a:sym typeface="Calibri"/>
              </a:rPr>
              <a:t>3</a:t>
            </a:r>
            <a:r>
              <a:rPr b="1" lang="en-GB" sz="1400">
                <a:solidFill>
                  <a:schemeClr val="dk1"/>
                </a:solidFill>
                <a:latin typeface="Calibri"/>
                <a:ea typeface="Calibri"/>
                <a:cs typeface="Calibri"/>
                <a:sym typeface="Calibri"/>
              </a:rPr>
              <a:t> </a:t>
            </a:r>
            <a:r>
              <a:rPr b="1" lang="en-GB" sz="3600">
                <a:solidFill>
                  <a:schemeClr val="dk1"/>
                </a:solidFill>
                <a:latin typeface="Calibri"/>
                <a:ea typeface="Calibri"/>
                <a:cs typeface="Calibri"/>
                <a:sym typeface="Calibri"/>
              </a:rPr>
              <a:t>5 </a:t>
            </a:r>
            <a:endParaRPr b="1" sz="3600">
              <a:solidFill>
                <a:schemeClr val="dk1"/>
              </a:solidFill>
              <a:latin typeface="Calibri"/>
              <a:ea typeface="Calibri"/>
              <a:cs typeface="Calibri"/>
              <a:sym typeface="Calibri"/>
            </a:endParaRPr>
          </a:p>
        </p:txBody>
      </p:sp>
      <p:cxnSp>
        <p:nvCxnSpPr>
          <p:cNvPr id="197" name="Google Shape;197;p9"/>
          <p:cNvCxnSpPr/>
          <p:nvPr/>
        </p:nvCxnSpPr>
        <p:spPr>
          <a:xfrm>
            <a:off x="4434840" y="2927449"/>
            <a:ext cx="109889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198" name="Google Shape;198;p9"/>
          <p:cNvSpPr/>
          <p:nvPr/>
        </p:nvSpPr>
        <p:spPr>
          <a:xfrm>
            <a:off x="4620318" y="3030916"/>
            <a:ext cx="816148" cy="571500"/>
          </a:xfrm>
          <a:prstGeom prst="rect">
            <a:avLst/>
          </a:prstGeom>
          <a:solidFill>
            <a:srgbClr val="D8D8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4000">
                <a:solidFill>
                  <a:schemeClr val="lt1"/>
                </a:solidFill>
                <a:latin typeface="Calibri"/>
                <a:ea typeface="Calibri"/>
                <a:cs typeface="Calibri"/>
                <a:sym typeface="Calibri"/>
              </a:rPr>
              <a:t>?</a:t>
            </a:r>
            <a:endParaRPr b="1" sz="4000">
              <a:solidFill>
                <a:schemeClr val="lt1"/>
              </a:solidFill>
              <a:latin typeface="Calibri"/>
              <a:ea typeface="Calibri"/>
              <a:cs typeface="Calibri"/>
              <a:sym typeface="Calibri"/>
            </a:endParaRPr>
          </a:p>
        </p:txBody>
      </p:sp>
      <p:pic>
        <p:nvPicPr>
          <p:cNvPr id="199" name="Google Shape;199;p9"/>
          <p:cNvPicPr preferRelativeResize="0"/>
          <p:nvPr/>
        </p:nvPicPr>
        <p:blipFill rotWithShape="1">
          <a:blip r:embed="rId5">
            <a:alphaModFix/>
          </a:blip>
          <a:srcRect b="35125" l="26141" r="64933" t="13644"/>
          <a:stretch/>
        </p:blipFill>
        <p:spPr>
          <a:xfrm>
            <a:off x="2298057" y="1716054"/>
            <a:ext cx="91538" cy="542592"/>
          </a:xfrm>
          <a:prstGeom prst="rect">
            <a:avLst/>
          </a:prstGeom>
          <a:noFill/>
          <a:ln>
            <a:noFill/>
          </a:ln>
        </p:spPr>
      </p:pic>
      <p:pic>
        <p:nvPicPr>
          <p:cNvPr id="200" name="Google Shape;200;p9"/>
          <p:cNvPicPr preferRelativeResize="0"/>
          <p:nvPr/>
        </p:nvPicPr>
        <p:blipFill rotWithShape="1">
          <a:blip r:embed="rId5">
            <a:alphaModFix/>
          </a:blip>
          <a:srcRect b="35125" l="26141" r="64933" t="13644"/>
          <a:stretch/>
        </p:blipFill>
        <p:spPr>
          <a:xfrm>
            <a:off x="2610740" y="1716054"/>
            <a:ext cx="91538" cy="542592"/>
          </a:xfrm>
          <a:prstGeom prst="rect">
            <a:avLst/>
          </a:prstGeom>
          <a:noFill/>
          <a:ln>
            <a:noFill/>
          </a:ln>
        </p:spPr>
      </p:pic>
      <p:pic>
        <p:nvPicPr>
          <p:cNvPr id="201" name="Google Shape;201;p9"/>
          <p:cNvPicPr preferRelativeResize="0"/>
          <p:nvPr/>
        </p:nvPicPr>
        <p:blipFill rotWithShape="1">
          <a:blip r:embed="rId5">
            <a:alphaModFix/>
          </a:blip>
          <a:srcRect b="35125" l="26141" r="64933" t="13644"/>
          <a:stretch/>
        </p:blipFill>
        <p:spPr>
          <a:xfrm>
            <a:off x="2298057" y="2348665"/>
            <a:ext cx="91538" cy="542592"/>
          </a:xfrm>
          <a:prstGeom prst="rect">
            <a:avLst/>
          </a:prstGeom>
          <a:noFill/>
          <a:ln>
            <a:noFill/>
          </a:ln>
        </p:spPr>
      </p:pic>
      <p:pic>
        <p:nvPicPr>
          <p:cNvPr id="202" name="Google Shape;202;p9"/>
          <p:cNvPicPr preferRelativeResize="0"/>
          <p:nvPr/>
        </p:nvPicPr>
        <p:blipFill rotWithShape="1">
          <a:blip r:embed="rId5">
            <a:alphaModFix/>
          </a:blip>
          <a:srcRect b="35125" l="26141" r="64933" t="13644"/>
          <a:stretch/>
        </p:blipFill>
        <p:spPr>
          <a:xfrm>
            <a:off x="2453154" y="2348665"/>
            <a:ext cx="91538" cy="542592"/>
          </a:xfrm>
          <a:prstGeom prst="rect">
            <a:avLst/>
          </a:prstGeom>
          <a:noFill/>
          <a:ln>
            <a:noFill/>
          </a:ln>
        </p:spPr>
      </p:pic>
      <p:pic>
        <p:nvPicPr>
          <p:cNvPr id="203" name="Google Shape;203;p9"/>
          <p:cNvPicPr preferRelativeResize="0"/>
          <p:nvPr/>
        </p:nvPicPr>
        <p:blipFill rotWithShape="1">
          <a:blip r:embed="rId5">
            <a:alphaModFix/>
          </a:blip>
          <a:srcRect b="13517" l="58536" r="23631" t="70894"/>
          <a:stretch/>
        </p:blipFill>
        <p:spPr>
          <a:xfrm>
            <a:off x="3254191" y="1803401"/>
            <a:ext cx="123796" cy="111760"/>
          </a:xfrm>
          <a:prstGeom prst="rect">
            <a:avLst/>
          </a:prstGeom>
          <a:noFill/>
          <a:ln>
            <a:noFill/>
          </a:ln>
        </p:spPr>
      </p:pic>
      <p:pic>
        <p:nvPicPr>
          <p:cNvPr id="204" name="Google Shape;204;p9"/>
          <p:cNvPicPr preferRelativeResize="0"/>
          <p:nvPr/>
        </p:nvPicPr>
        <p:blipFill rotWithShape="1">
          <a:blip r:embed="rId5">
            <a:alphaModFix/>
          </a:blip>
          <a:srcRect b="13517" l="58536" r="23631" t="70894"/>
          <a:stretch/>
        </p:blipFill>
        <p:spPr>
          <a:xfrm>
            <a:off x="3408963" y="1803401"/>
            <a:ext cx="123796" cy="111760"/>
          </a:xfrm>
          <a:prstGeom prst="rect">
            <a:avLst/>
          </a:prstGeom>
          <a:noFill/>
          <a:ln>
            <a:noFill/>
          </a:ln>
        </p:spPr>
      </p:pic>
      <p:pic>
        <p:nvPicPr>
          <p:cNvPr id="205" name="Google Shape;205;p9"/>
          <p:cNvPicPr preferRelativeResize="0"/>
          <p:nvPr/>
        </p:nvPicPr>
        <p:blipFill rotWithShape="1">
          <a:blip r:embed="rId5">
            <a:alphaModFix/>
          </a:blip>
          <a:srcRect b="13517" l="58536" r="23631" t="70894"/>
          <a:stretch/>
        </p:blipFill>
        <p:spPr>
          <a:xfrm>
            <a:off x="3285167" y="2402692"/>
            <a:ext cx="123796" cy="111760"/>
          </a:xfrm>
          <a:prstGeom prst="rect">
            <a:avLst/>
          </a:prstGeom>
          <a:noFill/>
          <a:ln>
            <a:noFill/>
          </a:ln>
        </p:spPr>
      </p:pic>
      <p:pic>
        <p:nvPicPr>
          <p:cNvPr id="206" name="Google Shape;206;p9"/>
          <p:cNvPicPr preferRelativeResize="0"/>
          <p:nvPr/>
        </p:nvPicPr>
        <p:blipFill rotWithShape="1">
          <a:blip r:embed="rId5">
            <a:alphaModFix/>
          </a:blip>
          <a:srcRect b="13517" l="58536" r="23631" t="70894"/>
          <a:stretch/>
        </p:blipFill>
        <p:spPr>
          <a:xfrm>
            <a:off x="3439939" y="2402692"/>
            <a:ext cx="123796" cy="111760"/>
          </a:xfrm>
          <a:prstGeom prst="rect">
            <a:avLst/>
          </a:prstGeom>
          <a:noFill/>
          <a:ln>
            <a:noFill/>
          </a:ln>
        </p:spPr>
      </p:pic>
      <p:pic>
        <p:nvPicPr>
          <p:cNvPr id="207" name="Google Shape;207;p9"/>
          <p:cNvPicPr preferRelativeResize="0"/>
          <p:nvPr/>
        </p:nvPicPr>
        <p:blipFill rotWithShape="1">
          <a:blip r:embed="rId5">
            <a:alphaModFix/>
          </a:blip>
          <a:srcRect b="13517" l="58536" r="23631" t="70894"/>
          <a:stretch/>
        </p:blipFill>
        <p:spPr>
          <a:xfrm>
            <a:off x="3595036" y="2402692"/>
            <a:ext cx="123796" cy="111760"/>
          </a:xfrm>
          <a:prstGeom prst="rect">
            <a:avLst/>
          </a:prstGeom>
          <a:noFill/>
          <a:ln>
            <a:noFill/>
          </a:ln>
        </p:spPr>
      </p:pic>
      <p:pic>
        <p:nvPicPr>
          <p:cNvPr id="208" name="Google Shape;208;p9"/>
          <p:cNvPicPr preferRelativeResize="0"/>
          <p:nvPr/>
        </p:nvPicPr>
        <p:blipFill rotWithShape="1">
          <a:blip r:embed="rId5">
            <a:alphaModFix/>
          </a:blip>
          <a:srcRect b="13517" l="58536" r="23631" t="70894"/>
          <a:stretch/>
        </p:blipFill>
        <p:spPr>
          <a:xfrm>
            <a:off x="3750133" y="2402692"/>
            <a:ext cx="123796" cy="111760"/>
          </a:xfrm>
          <a:prstGeom prst="rect">
            <a:avLst/>
          </a:prstGeom>
          <a:noFill/>
          <a:ln>
            <a:noFill/>
          </a:ln>
        </p:spPr>
      </p:pic>
      <p:pic>
        <p:nvPicPr>
          <p:cNvPr id="209" name="Google Shape;209;p9"/>
          <p:cNvPicPr preferRelativeResize="0"/>
          <p:nvPr/>
        </p:nvPicPr>
        <p:blipFill rotWithShape="1">
          <a:blip r:embed="rId5">
            <a:alphaModFix/>
          </a:blip>
          <a:srcRect b="13517" l="58536" r="23631" t="70894"/>
          <a:stretch/>
        </p:blipFill>
        <p:spPr>
          <a:xfrm>
            <a:off x="3285167" y="2564081"/>
            <a:ext cx="123796" cy="111760"/>
          </a:xfrm>
          <a:prstGeom prst="rect">
            <a:avLst/>
          </a:prstGeom>
          <a:noFill/>
          <a:ln>
            <a:noFill/>
          </a:ln>
        </p:spPr>
      </p:pic>
      <p:sp>
        <p:nvSpPr>
          <p:cNvPr id="210" name="Google Shape;210;p9"/>
          <p:cNvSpPr txBox="1"/>
          <p:nvPr/>
        </p:nvSpPr>
        <p:spPr>
          <a:xfrm>
            <a:off x="1635380" y="4361209"/>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7</a:t>
            </a:r>
            <a:r>
              <a:rPr b="1" lang="en-GB" sz="1600">
                <a:solidFill>
                  <a:schemeClr val="dk1"/>
                </a:solidFill>
                <a:latin typeface="Calibri"/>
                <a:ea typeface="Calibri"/>
                <a:cs typeface="Calibri"/>
                <a:sym typeface="Calibri"/>
              </a:rPr>
              <a:t> </a:t>
            </a:r>
            <a:r>
              <a:rPr b="1" lang="en-GB" sz="4000">
                <a:solidFill>
                  <a:schemeClr val="dk1"/>
                </a:solidFill>
                <a:latin typeface="Calibri"/>
                <a:ea typeface="Calibri"/>
                <a:cs typeface="Calibri"/>
                <a:sym typeface="Calibri"/>
              </a:rPr>
              <a:t>7 </a:t>
            </a:r>
            <a:endParaRPr b="1" sz="4000">
              <a:solidFill>
                <a:schemeClr val="dk1"/>
              </a:solidFill>
              <a:latin typeface="Calibri"/>
              <a:ea typeface="Calibri"/>
              <a:cs typeface="Calibri"/>
              <a:sym typeface="Calibri"/>
            </a:endParaRPr>
          </a:p>
        </p:txBody>
      </p:sp>
      <p:pic>
        <p:nvPicPr>
          <p:cNvPr id="211" name="Google Shape;211;p9"/>
          <p:cNvPicPr preferRelativeResize="0"/>
          <p:nvPr/>
        </p:nvPicPr>
        <p:blipFill rotWithShape="1">
          <a:blip r:embed="rId5">
            <a:alphaModFix/>
          </a:blip>
          <a:srcRect b="35125" l="26141" r="64933" t="13644"/>
          <a:stretch/>
        </p:blipFill>
        <p:spPr>
          <a:xfrm>
            <a:off x="2750773" y="1716054"/>
            <a:ext cx="91538" cy="542592"/>
          </a:xfrm>
          <a:prstGeom prst="rect">
            <a:avLst/>
          </a:prstGeom>
          <a:noFill/>
          <a:ln>
            <a:noFill/>
          </a:ln>
        </p:spPr>
      </p:pic>
      <p:sp>
        <p:nvSpPr>
          <p:cNvPr id="212" name="Google Shape;212;p9"/>
          <p:cNvSpPr txBox="1"/>
          <p:nvPr/>
        </p:nvSpPr>
        <p:spPr>
          <a:xfrm>
            <a:off x="3501837" y="4361209"/>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7</a:t>
            </a:r>
            <a:r>
              <a:rPr b="1" lang="en-GB" sz="1200">
                <a:solidFill>
                  <a:schemeClr val="dk1"/>
                </a:solidFill>
                <a:latin typeface="Calibri"/>
                <a:ea typeface="Calibri"/>
                <a:cs typeface="Calibri"/>
                <a:sym typeface="Calibri"/>
              </a:rPr>
              <a:t> </a:t>
            </a:r>
            <a:r>
              <a:rPr b="1" lang="en-GB" sz="4000">
                <a:solidFill>
                  <a:schemeClr val="dk1"/>
                </a:solidFill>
                <a:latin typeface="Calibri"/>
                <a:ea typeface="Calibri"/>
                <a:cs typeface="Calibri"/>
                <a:sym typeface="Calibri"/>
              </a:rPr>
              <a:t>6 </a:t>
            </a:r>
            <a:endParaRPr b="1" sz="4000">
              <a:solidFill>
                <a:schemeClr val="dk1"/>
              </a:solidFill>
              <a:latin typeface="Calibri"/>
              <a:ea typeface="Calibri"/>
              <a:cs typeface="Calibri"/>
              <a:sym typeface="Calibri"/>
            </a:endParaRPr>
          </a:p>
        </p:txBody>
      </p:sp>
      <p:sp>
        <p:nvSpPr>
          <p:cNvPr id="213" name="Google Shape;213;p9"/>
          <p:cNvSpPr txBox="1"/>
          <p:nvPr/>
        </p:nvSpPr>
        <p:spPr>
          <a:xfrm>
            <a:off x="5104737" y="4311525"/>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1</a:t>
            </a:r>
            <a:r>
              <a:rPr b="1" lang="en-GB" sz="1200">
                <a:solidFill>
                  <a:schemeClr val="dk1"/>
                </a:solidFill>
                <a:latin typeface="Calibri"/>
                <a:ea typeface="Calibri"/>
                <a:cs typeface="Calibri"/>
                <a:sym typeface="Calibri"/>
              </a:rPr>
              <a:t> </a:t>
            </a:r>
            <a:r>
              <a:rPr b="1" lang="en-GB" sz="4000">
                <a:solidFill>
                  <a:schemeClr val="dk1"/>
                </a:solidFill>
                <a:latin typeface="Calibri"/>
                <a:ea typeface="Calibri"/>
                <a:cs typeface="Calibri"/>
                <a:sym typeface="Calibri"/>
              </a:rPr>
              <a:t>4 </a:t>
            </a:r>
            <a:endParaRPr b="1" sz="4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197"/>
                                        </p:tgtEl>
                                        <p:attrNameLst>
                                          <p:attrName>style.visibility</p:attrName>
                                        </p:attrNameLst>
                                      </p:cBhvr>
                                      <p:to>
                                        <p:strVal val="visible"/>
                                      </p:to>
                                    </p:set>
                                    <p:animEffect filter="fade" transition="in">
                                      <p:cBhvr>
                                        <p:cTn dur="500"/>
                                        <p:tgtEl>
                                          <p:spTgt spid="1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500"/>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0"/>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7 · 07_G2_PV_COLUMN.png</a:t>
            </a:r>
            <a:endParaRPr/>
          </a:p>
        </p:txBody>
      </p:sp>
      <p:pic>
        <p:nvPicPr>
          <p:cNvPr descr="07_G2_PV_COLUMN.png" id="219" name="Google Shape;219;p10"/>
          <p:cNvPicPr preferRelativeResize="0"/>
          <p:nvPr/>
        </p:nvPicPr>
        <p:blipFill rotWithShape="1">
          <a:blip r:embed="rId3">
            <a:alphaModFix/>
          </a:blip>
          <a:srcRect b="0" l="0" r="0" t="0"/>
          <a:stretch/>
        </p:blipFill>
        <p:spPr>
          <a:xfrm>
            <a:off x="365760" y="731520"/>
            <a:ext cx="7680960" cy="3866341"/>
          </a:xfrm>
          <a:prstGeom prst="rect">
            <a:avLst/>
          </a:prstGeom>
          <a:noFill/>
          <a:ln>
            <a:noFill/>
          </a:ln>
        </p:spPr>
      </p:pic>
      <p:pic>
        <p:nvPicPr>
          <p:cNvPr id="220" name="Google Shape;220;p10"/>
          <p:cNvPicPr preferRelativeResize="0"/>
          <p:nvPr/>
        </p:nvPicPr>
        <p:blipFill rotWithShape="1">
          <a:blip r:embed="rId4">
            <a:alphaModFix/>
          </a:blip>
          <a:srcRect b="0" l="0" r="0" t="0"/>
          <a:stretch/>
        </p:blipFill>
        <p:spPr>
          <a:xfrm>
            <a:off x="2210615" y="1500153"/>
            <a:ext cx="2706240" cy="2351375"/>
          </a:xfrm>
          <a:prstGeom prst="rect">
            <a:avLst/>
          </a:prstGeom>
          <a:noFill/>
          <a:ln>
            <a:noFill/>
          </a:ln>
        </p:spPr>
      </p:pic>
      <p:pic>
        <p:nvPicPr>
          <p:cNvPr id="221" name="Google Shape;221;p10"/>
          <p:cNvPicPr preferRelativeResize="0"/>
          <p:nvPr/>
        </p:nvPicPr>
        <p:blipFill rotWithShape="1">
          <a:blip r:embed="rId5">
            <a:alphaModFix/>
          </a:blip>
          <a:srcRect b="35125" l="26141" r="64933" t="13644"/>
          <a:stretch/>
        </p:blipFill>
        <p:spPr>
          <a:xfrm>
            <a:off x="2999165" y="1946878"/>
            <a:ext cx="91538" cy="542592"/>
          </a:xfrm>
          <a:prstGeom prst="rect">
            <a:avLst/>
          </a:prstGeom>
          <a:noFill/>
          <a:ln>
            <a:noFill/>
          </a:ln>
        </p:spPr>
      </p:pic>
      <p:sp>
        <p:nvSpPr>
          <p:cNvPr id="222" name="Google Shape;222;p10"/>
          <p:cNvSpPr txBox="1"/>
          <p:nvPr/>
        </p:nvSpPr>
        <p:spPr>
          <a:xfrm>
            <a:off x="5185842" y="2010988"/>
            <a:ext cx="9753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chemeClr val="dk1"/>
                </a:solidFill>
                <a:latin typeface="Calibri"/>
                <a:ea typeface="Calibri"/>
                <a:cs typeface="Calibri"/>
                <a:sym typeface="Calibri"/>
              </a:rPr>
              <a:t>56 </a:t>
            </a:r>
            <a:endParaRPr b="1" sz="3600">
              <a:solidFill>
                <a:schemeClr val="dk1"/>
              </a:solidFill>
              <a:latin typeface="Calibri"/>
              <a:ea typeface="Calibri"/>
              <a:cs typeface="Calibri"/>
              <a:sym typeface="Calibri"/>
            </a:endParaRPr>
          </a:p>
        </p:txBody>
      </p:sp>
      <p:sp>
        <p:nvSpPr>
          <p:cNvPr id="223" name="Google Shape;223;p10"/>
          <p:cNvSpPr txBox="1"/>
          <p:nvPr/>
        </p:nvSpPr>
        <p:spPr>
          <a:xfrm>
            <a:off x="5185842" y="2573498"/>
            <a:ext cx="9753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chemeClr val="dk1"/>
                </a:solidFill>
                <a:latin typeface="Calibri"/>
                <a:ea typeface="Calibri"/>
                <a:cs typeface="Calibri"/>
                <a:sym typeface="Calibri"/>
              </a:rPr>
              <a:t>33 </a:t>
            </a:r>
            <a:endParaRPr b="1" sz="3600">
              <a:solidFill>
                <a:schemeClr val="dk1"/>
              </a:solidFill>
              <a:latin typeface="Calibri"/>
              <a:ea typeface="Calibri"/>
              <a:cs typeface="Calibri"/>
              <a:sym typeface="Calibri"/>
            </a:endParaRPr>
          </a:p>
        </p:txBody>
      </p:sp>
      <p:cxnSp>
        <p:nvCxnSpPr>
          <p:cNvPr id="224" name="Google Shape;224;p10"/>
          <p:cNvCxnSpPr/>
          <p:nvPr/>
        </p:nvCxnSpPr>
        <p:spPr>
          <a:xfrm>
            <a:off x="4978362" y="3158273"/>
            <a:ext cx="109889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225" name="Google Shape;225;p10"/>
          <p:cNvSpPr/>
          <p:nvPr/>
        </p:nvSpPr>
        <p:spPr>
          <a:xfrm>
            <a:off x="5163840" y="3261740"/>
            <a:ext cx="816148" cy="571500"/>
          </a:xfrm>
          <a:prstGeom prst="rect">
            <a:avLst/>
          </a:prstGeom>
          <a:solidFill>
            <a:srgbClr val="D8D8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4000">
                <a:solidFill>
                  <a:schemeClr val="lt1"/>
                </a:solidFill>
                <a:latin typeface="Calibri"/>
                <a:ea typeface="Calibri"/>
                <a:cs typeface="Calibri"/>
                <a:sym typeface="Calibri"/>
              </a:rPr>
              <a:t>?</a:t>
            </a:r>
            <a:endParaRPr b="1" sz="4000">
              <a:solidFill>
                <a:schemeClr val="lt1"/>
              </a:solidFill>
              <a:latin typeface="Calibri"/>
              <a:ea typeface="Calibri"/>
              <a:cs typeface="Calibri"/>
              <a:sym typeface="Calibri"/>
            </a:endParaRPr>
          </a:p>
        </p:txBody>
      </p:sp>
      <p:pic>
        <p:nvPicPr>
          <p:cNvPr id="226" name="Google Shape;226;p10"/>
          <p:cNvPicPr preferRelativeResize="0"/>
          <p:nvPr/>
        </p:nvPicPr>
        <p:blipFill rotWithShape="1">
          <a:blip r:embed="rId5">
            <a:alphaModFix/>
          </a:blip>
          <a:srcRect b="35125" l="26141" r="64933" t="13644"/>
          <a:stretch/>
        </p:blipFill>
        <p:spPr>
          <a:xfrm>
            <a:off x="2841579" y="1946878"/>
            <a:ext cx="91538" cy="542592"/>
          </a:xfrm>
          <a:prstGeom prst="rect">
            <a:avLst/>
          </a:prstGeom>
          <a:noFill/>
          <a:ln>
            <a:noFill/>
          </a:ln>
        </p:spPr>
      </p:pic>
      <p:pic>
        <p:nvPicPr>
          <p:cNvPr id="227" name="Google Shape;227;p10"/>
          <p:cNvPicPr preferRelativeResize="0"/>
          <p:nvPr/>
        </p:nvPicPr>
        <p:blipFill rotWithShape="1">
          <a:blip r:embed="rId5">
            <a:alphaModFix/>
          </a:blip>
          <a:srcRect b="35125" l="26141" r="64933" t="13644"/>
          <a:stretch/>
        </p:blipFill>
        <p:spPr>
          <a:xfrm>
            <a:off x="3154262" y="1946878"/>
            <a:ext cx="91538" cy="542592"/>
          </a:xfrm>
          <a:prstGeom prst="rect">
            <a:avLst/>
          </a:prstGeom>
          <a:noFill/>
          <a:ln>
            <a:noFill/>
          </a:ln>
        </p:spPr>
      </p:pic>
      <p:pic>
        <p:nvPicPr>
          <p:cNvPr id="228" name="Google Shape;228;p10"/>
          <p:cNvPicPr preferRelativeResize="0"/>
          <p:nvPr/>
        </p:nvPicPr>
        <p:blipFill rotWithShape="1">
          <a:blip r:embed="rId5">
            <a:alphaModFix/>
          </a:blip>
          <a:srcRect b="35125" l="26141" r="64933" t="13644"/>
          <a:stretch/>
        </p:blipFill>
        <p:spPr>
          <a:xfrm>
            <a:off x="2841579" y="2579489"/>
            <a:ext cx="91538" cy="542592"/>
          </a:xfrm>
          <a:prstGeom prst="rect">
            <a:avLst/>
          </a:prstGeom>
          <a:noFill/>
          <a:ln>
            <a:noFill/>
          </a:ln>
        </p:spPr>
      </p:pic>
      <p:pic>
        <p:nvPicPr>
          <p:cNvPr id="229" name="Google Shape;229;p10"/>
          <p:cNvPicPr preferRelativeResize="0"/>
          <p:nvPr/>
        </p:nvPicPr>
        <p:blipFill rotWithShape="1">
          <a:blip r:embed="rId5">
            <a:alphaModFix/>
          </a:blip>
          <a:srcRect b="35125" l="26141" r="64933" t="13644"/>
          <a:stretch/>
        </p:blipFill>
        <p:spPr>
          <a:xfrm>
            <a:off x="2996676" y="2579489"/>
            <a:ext cx="91538" cy="542592"/>
          </a:xfrm>
          <a:prstGeom prst="rect">
            <a:avLst/>
          </a:prstGeom>
          <a:noFill/>
          <a:ln>
            <a:noFill/>
          </a:ln>
        </p:spPr>
      </p:pic>
      <p:pic>
        <p:nvPicPr>
          <p:cNvPr id="230" name="Google Shape;230;p10"/>
          <p:cNvPicPr preferRelativeResize="0"/>
          <p:nvPr/>
        </p:nvPicPr>
        <p:blipFill rotWithShape="1">
          <a:blip r:embed="rId5">
            <a:alphaModFix/>
          </a:blip>
          <a:srcRect b="13517" l="58536" r="23631" t="70894"/>
          <a:stretch/>
        </p:blipFill>
        <p:spPr>
          <a:xfrm>
            <a:off x="3797713" y="2034225"/>
            <a:ext cx="123796" cy="111760"/>
          </a:xfrm>
          <a:prstGeom prst="rect">
            <a:avLst/>
          </a:prstGeom>
          <a:noFill/>
          <a:ln>
            <a:noFill/>
          </a:ln>
        </p:spPr>
      </p:pic>
      <p:pic>
        <p:nvPicPr>
          <p:cNvPr id="231" name="Google Shape;231;p10"/>
          <p:cNvPicPr preferRelativeResize="0"/>
          <p:nvPr/>
        </p:nvPicPr>
        <p:blipFill rotWithShape="1">
          <a:blip r:embed="rId5">
            <a:alphaModFix/>
          </a:blip>
          <a:srcRect b="13517" l="58536" r="23631" t="70894"/>
          <a:stretch/>
        </p:blipFill>
        <p:spPr>
          <a:xfrm>
            <a:off x="3952485" y="2034225"/>
            <a:ext cx="123796" cy="111760"/>
          </a:xfrm>
          <a:prstGeom prst="rect">
            <a:avLst/>
          </a:prstGeom>
          <a:noFill/>
          <a:ln>
            <a:noFill/>
          </a:ln>
        </p:spPr>
      </p:pic>
      <p:pic>
        <p:nvPicPr>
          <p:cNvPr id="232" name="Google Shape;232;p10"/>
          <p:cNvPicPr preferRelativeResize="0"/>
          <p:nvPr/>
        </p:nvPicPr>
        <p:blipFill rotWithShape="1">
          <a:blip r:embed="rId5">
            <a:alphaModFix/>
          </a:blip>
          <a:srcRect b="13517" l="58536" r="23631" t="70894"/>
          <a:stretch/>
        </p:blipFill>
        <p:spPr>
          <a:xfrm>
            <a:off x="3828689" y="2633516"/>
            <a:ext cx="123796" cy="111760"/>
          </a:xfrm>
          <a:prstGeom prst="rect">
            <a:avLst/>
          </a:prstGeom>
          <a:noFill/>
          <a:ln>
            <a:noFill/>
          </a:ln>
        </p:spPr>
      </p:pic>
      <p:pic>
        <p:nvPicPr>
          <p:cNvPr id="233" name="Google Shape;233;p10"/>
          <p:cNvPicPr preferRelativeResize="0"/>
          <p:nvPr/>
        </p:nvPicPr>
        <p:blipFill rotWithShape="1">
          <a:blip r:embed="rId5">
            <a:alphaModFix/>
          </a:blip>
          <a:srcRect b="13517" l="58536" r="23631" t="70894"/>
          <a:stretch/>
        </p:blipFill>
        <p:spPr>
          <a:xfrm>
            <a:off x="3983461" y="2633516"/>
            <a:ext cx="123796" cy="111760"/>
          </a:xfrm>
          <a:prstGeom prst="rect">
            <a:avLst/>
          </a:prstGeom>
          <a:noFill/>
          <a:ln>
            <a:noFill/>
          </a:ln>
        </p:spPr>
      </p:pic>
      <p:pic>
        <p:nvPicPr>
          <p:cNvPr id="234" name="Google Shape;234;p10"/>
          <p:cNvPicPr preferRelativeResize="0"/>
          <p:nvPr/>
        </p:nvPicPr>
        <p:blipFill rotWithShape="1">
          <a:blip r:embed="rId5">
            <a:alphaModFix/>
          </a:blip>
          <a:srcRect b="13517" l="58536" r="23631" t="70894"/>
          <a:stretch/>
        </p:blipFill>
        <p:spPr>
          <a:xfrm>
            <a:off x="4138558" y="2633516"/>
            <a:ext cx="123796" cy="111760"/>
          </a:xfrm>
          <a:prstGeom prst="rect">
            <a:avLst/>
          </a:prstGeom>
          <a:noFill/>
          <a:ln>
            <a:noFill/>
          </a:ln>
        </p:spPr>
      </p:pic>
      <p:pic>
        <p:nvPicPr>
          <p:cNvPr id="235" name="Google Shape;235;p10"/>
          <p:cNvPicPr preferRelativeResize="0"/>
          <p:nvPr/>
        </p:nvPicPr>
        <p:blipFill rotWithShape="1">
          <a:blip r:embed="rId5">
            <a:alphaModFix/>
          </a:blip>
          <a:srcRect b="35125" l="26141" r="64933" t="13644"/>
          <a:stretch/>
        </p:blipFill>
        <p:spPr>
          <a:xfrm>
            <a:off x="3294295" y="1946878"/>
            <a:ext cx="91538" cy="542592"/>
          </a:xfrm>
          <a:prstGeom prst="rect">
            <a:avLst/>
          </a:prstGeom>
          <a:noFill/>
          <a:ln>
            <a:noFill/>
          </a:ln>
        </p:spPr>
      </p:pic>
      <p:sp>
        <p:nvSpPr>
          <p:cNvPr id="236" name="Google Shape;236;p10"/>
          <p:cNvSpPr txBox="1"/>
          <p:nvPr/>
        </p:nvSpPr>
        <p:spPr>
          <a:xfrm>
            <a:off x="8108227" y="311340"/>
            <a:ext cx="4000195" cy="591700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1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Replace the entire slide content with the following:</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Title Text 1:</a:t>
            </a:r>
            <a:r>
              <a:rPr lang="en-GB" sz="1200">
                <a:solidFill>
                  <a:schemeClr val="dk1"/>
                </a:solidFill>
                <a:latin typeface="Calibri"/>
                <a:ea typeface="Calibri"/>
                <a:cs typeface="Calibri"/>
                <a:sym typeface="Calibri"/>
              </a:rPr>
              <a:t> संख्याएँ जोड़िए।</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Equation:</a:t>
            </a:r>
            <a:r>
              <a:rPr lang="en-GB" sz="1200">
                <a:solidFill>
                  <a:schemeClr val="dk1"/>
                </a:solidFill>
                <a:latin typeface="Calibri"/>
                <a:ea typeface="Calibri"/>
                <a:cs typeface="Calibri"/>
                <a:sym typeface="Calibri"/>
              </a:rPr>
              <a:t> </a:t>
            </a:r>
            <a:r>
              <a:rPr b="1" lang="en-GB" sz="1200">
                <a:solidFill>
                  <a:schemeClr val="dk1"/>
                </a:solidFill>
                <a:latin typeface="Calibri"/>
                <a:ea typeface="Calibri"/>
                <a:cs typeface="Calibri"/>
                <a:sym typeface="Calibri"/>
              </a:rPr>
              <a:t>56 + 33 =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Show the PV tables with the numbers built using blocks one by one.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VO1:</a:t>
            </a:r>
            <a:r>
              <a:rPr lang="en-GB" sz="1200">
                <a:solidFill>
                  <a:schemeClr val="dk1"/>
                </a:solidFill>
                <a:latin typeface="Calibri"/>
                <a:ea typeface="Calibri"/>
                <a:cs typeface="Calibri"/>
                <a:sym typeface="Calibri"/>
              </a:rPr>
              <a:t> 56 और 33 को जोड़िए।</a:t>
            </a:r>
            <a:r>
              <a:rPr i="1" lang="en-GB" sz="1200">
                <a:solidFill>
                  <a:schemeClr val="dk1"/>
                </a:solidFill>
                <a:latin typeface="Calibri"/>
                <a:ea typeface="Calibri"/>
                <a:cs typeface="Calibri"/>
                <a:sym typeface="Calibri"/>
              </a:rPr>
              <a:t> [Firstly, the ones blocks tappable and then the tens blocks tappable. As the child taps each block, move it to its respective sum cards. If there is any inactivity for 7 seconds, pulsate the blocks.]</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r>
              <a:rPr b="1" lang="en-GB" sz="1050">
                <a:solidFill>
                  <a:schemeClr val="dk1"/>
                </a:solidFill>
                <a:latin typeface="Calibri"/>
                <a:ea typeface="Calibri"/>
                <a:cs typeface="Calibri"/>
                <a:sym typeface="Calibri"/>
              </a:rPr>
              <a:t>Title Text 2:</a:t>
            </a:r>
            <a:r>
              <a:rPr lang="en-GB" sz="1050">
                <a:solidFill>
                  <a:schemeClr val="dk1"/>
                </a:solidFill>
                <a:latin typeface="Calibri"/>
                <a:ea typeface="Calibri"/>
                <a:cs typeface="Calibri"/>
                <a:sym typeface="Calibri"/>
              </a:rPr>
              <a:t> सही जोड़ चुनिए।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VO2:</a:t>
            </a:r>
            <a:r>
              <a:rPr lang="en-GB" sz="1200">
                <a:solidFill>
                  <a:schemeClr val="dk1"/>
                </a:solidFill>
                <a:latin typeface="Calibri"/>
                <a:ea typeface="Calibri"/>
                <a:cs typeface="Calibri"/>
                <a:sym typeface="Calibri"/>
              </a:rPr>
              <a:t> बहुत बढ़िया! अब सही जोड़ चुनिए। </a:t>
            </a:r>
            <a:r>
              <a:rPr i="1" lang="en-GB" sz="1200">
                <a:solidFill>
                  <a:schemeClr val="dk1"/>
                </a:solidFill>
                <a:latin typeface="Calibri"/>
                <a:ea typeface="Calibri"/>
                <a:cs typeface="Calibri"/>
                <a:sym typeface="Calibri"/>
              </a:rPr>
              <a:t>[Move the sum PV table to the center, replacing the first two PV tables and show the answer options.]</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Correct answer:</a:t>
            </a:r>
            <a:r>
              <a:rPr lang="en-GB" sz="1200">
                <a:solidFill>
                  <a:schemeClr val="dk1"/>
                </a:solidFill>
                <a:latin typeface="Calibri"/>
                <a:ea typeface="Calibri"/>
                <a:cs typeface="Calibri"/>
                <a:sym typeface="Calibri"/>
              </a:rPr>
              <a:t> शाबाश! 56 और 33 का जोड़ 89 है।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i="1" lang="en-GB" sz="1200">
                <a:solidFill>
                  <a:schemeClr val="dk1"/>
                </a:solidFill>
                <a:latin typeface="Calibri"/>
                <a:ea typeface="Calibri"/>
                <a:cs typeface="Calibri"/>
                <a:sym typeface="Calibri"/>
              </a:rPr>
              <a:t>[Move the correct answer option to the equation, replacing the </a:t>
            </a:r>
            <a:r>
              <a:rPr b="1" i="1" lang="en-GB" sz="1200">
                <a:solidFill>
                  <a:schemeClr val="dk1"/>
                </a:solidFill>
                <a:latin typeface="Calibri"/>
                <a:ea typeface="Calibri"/>
                <a:cs typeface="Calibri"/>
                <a:sym typeface="Calibri"/>
              </a:rPr>
              <a:t>“?”</a:t>
            </a:r>
            <a:r>
              <a:rPr i="1" lang="en-GB" sz="1200">
                <a:solidFill>
                  <a:schemeClr val="dk1"/>
                </a:solidFill>
                <a:latin typeface="Calibri"/>
                <a:ea typeface="Calibri"/>
                <a:cs typeface="Calibri"/>
                <a:sym typeface="Calibri"/>
              </a:rPr>
              <a:t> symbol.]</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Feedback/hint</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WA1:</a:t>
            </a:r>
            <a:r>
              <a:rPr lang="en-GB" sz="1200">
                <a:solidFill>
                  <a:schemeClr val="dk1"/>
                </a:solidFill>
                <a:latin typeface="Calibri"/>
                <a:ea typeface="Calibri"/>
                <a:cs typeface="Calibri"/>
                <a:sym typeface="Calibri"/>
              </a:rPr>
              <a:t> Wiggle + VO: </a:t>
            </a:r>
            <a:r>
              <a:rPr b="1" lang="en-GB" sz="1200">
                <a:solidFill>
                  <a:schemeClr val="dk1"/>
                </a:solidFill>
                <a:latin typeface="Calibri"/>
                <a:ea typeface="Calibri"/>
                <a:cs typeface="Calibri"/>
                <a:sym typeface="Calibri"/>
              </a:rPr>
              <a:t>ब्लॉक्स को गिनिए और सही जोड़ चुनिए।</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WA2:</a:t>
            </a:r>
            <a:r>
              <a:rPr lang="en-GB" sz="1200">
                <a:solidFill>
                  <a:schemeClr val="dk1"/>
                </a:solidFill>
                <a:latin typeface="Calibri"/>
                <a:ea typeface="Calibri"/>
                <a:cs typeface="Calibri"/>
                <a:sym typeface="Calibri"/>
              </a:rPr>
              <a:t> Wiggle + VO: </a:t>
            </a:r>
            <a:r>
              <a:rPr b="1" lang="en-GB" sz="1200">
                <a:solidFill>
                  <a:schemeClr val="dk1"/>
                </a:solidFill>
                <a:latin typeface="Calibri"/>
                <a:ea typeface="Calibri"/>
                <a:cs typeface="Calibri"/>
                <a:sym typeface="Calibri"/>
              </a:rPr>
              <a:t>ध्यान से देखिए, कुल 8 दहाइयाँ और 9 इकाइयाँ हैं। </a:t>
            </a:r>
            <a:r>
              <a:rPr i="1" lang="en-GB" sz="1200">
                <a:solidFill>
                  <a:schemeClr val="dk1"/>
                </a:solidFill>
                <a:latin typeface="Calibri"/>
                <a:ea typeface="Calibri"/>
                <a:cs typeface="Calibri"/>
                <a:sym typeface="Calibri"/>
              </a:rPr>
              <a:t>[Highlight the blocks in sync with the VO]</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WA3:</a:t>
            </a:r>
            <a:r>
              <a:rPr lang="en-GB" sz="1200">
                <a:solidFill>
                  <a:schemeClr val="dk1"/>
                </a:solidFill>
                <a:latin typeface="Calibri"/>
                <a:ea typeface="Calibri"/>
                <a:cs typeface="Calibri"/>
                <a:sym typeface="Calibri"/>
              </a:rPr>
              <a:t> Wiggle + highlight the correct option + fade out the other options.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endParaRPr sz="1000">
              <a:solidFill>
                <a:srgbClr val="1B2A44"/>
              </a:solidFill>
              <a:latin typeface="Calibri"/>
              <a:ea typeface="Calibri"/>
              <a:cs typeface="Calibri"/>
              <a:sym typeface="Calibri"/>
            </a:endParaRPr>
          </a:p>
        </p:txBody>
      </p:sp>
      <p:sp>
        <p:nvSpPr>
          <p:cNvPr id="237" name="Google Shape;237;p10"/>
          <p:cNvSpPr txBox="1"/>
          <p:nvPr/>
        </p:nvSpPr>
        <p:spPr>
          <a:xfrm>
            <a:off x="1908217" y="4474750"/>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98 </a:t>
            </a:r>
            <a:endParaRPr b="1" sz="4000">
              <a:solidFill>
                <a:schemeClr val="dk1"/>
              </a:solidFill>
              <a:latin typeface="Calibri"/>
              <a:ea typeface="Calibri"/>
              <a:cs typeface="Calibri"/>
              <a:sym typeface="Calibri"/>
            </a:endParaRPr>
          </a:p>
        </p:txBody>
      </p:sp>
      <p:sp>
        <p:nvSpPr>
          <p:cNvPr id="238" name="Google Shape;238;p10"/>
          <p:cNvSpPr txBox="1"/>
          <p:nvPr/>
        </p:nvSpPr>
        <p:spPr>
          <a:xfrm>
            <a:off x="3774674" y="4474750"/>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89 </a:t>
            </a:r>
            <a:endParaRPr b="1" sz="4000">
              <a:solidFill>
                <a:schemeClr val="dk1"/>
              </a:solidFill>
              <a:latin typeface="Calibri"/>
              <a:ea typeface="Calibri"/>
              <a:cs typeface="Calibri"/>
              <a:sym typeface="Calibri"/>
            </a:endParaRPr>
          </a:p>
        </p:txBody>
      </p:sp>
      <p:sp>
        <p:nvSpPr>
          <p:cNvPr id="239" name="Google Shape;239;p10"/>
          <p:cNvSpPr txBox="1"/>
          <p:nvPr/>
        </p:nvSpPr>
        <p:spPr>
          <a:xfrm>
            <a:off x="5377574" y="4425066"/>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17 </a:t>
            </a:r>
            <a:endParaRPr b="1" sz="4000">
              <a:solidFill>
                <a:schemeClr val="dk1"/>
              </a:solidFill>
              <a:latin typeface="Calibri"/>
              <a:ea typeface="Calibri"/>
              <a:cs typeface="Calibri"/>
              <a:sym typeface="Calibri"/>
            </a:endParaRPr>
          </a:p>
        </p:txBody>
      </p:sp>
      <p:pic>
        <p:nvPicPr>
          <p:cNvPr id="240" name="Google Shape;240;p10"/>
          <p:cNvPicPr preferRelativeResize="0"/>
          <p:nvPr/>
        </p:nvPicPr>
        <p:blipFill rotWithShape="1">
          <a:blip r:embed="rId5">
            <a:alphaModFix/>
          </a:blip>
          <a:srcRect b="35125" l="26141" r="64933" t="13644"/>
          <a:stretch/>
        </p:blipFill>
        <p:spPr>
          <a:xfrm>
            <a:off x="2701546" y="1946878"/>
            <a:ext cx="91538" cy="542592"/>
          </a:xfrm>
          <a:prstGeom prst="rect">
            <a:avLst/>
          </a:prstGeom>
          <a:noFill/>
          <a:ln>
            <a:noFill/>
          </a:ln>
        </p:spPr>
      </p:pic>
      <p:pic>
        <p:nvPicPr>
          <p:cNvPr id="241" name="Google Shape;241;p10"/>
          <p:cNvPicPr preferRelativeResize="0"/>
          <p:nvPr/>
        </p:nvPicPr>
        <p:blipFill rotWithShape="1">
          <a:blip r:embed="rId5">
            <a:alphaModFix/>
          </a:blip>
          <a:srcRect b="13517" l="58536" r="23631" t="70894"/>
          <a:stretch/>
        </p:blipFill>
        <p:spPr>
          <a:xfrm>
            <a:off x="4111154" y="2038047"/>
            <a:ext cx="123796" cy="111760"/>
          </a:xfrm>
          <a:prstGeom prst="rect">
            <a:avLst/>
          </a:prstGeom>
          <a:noFill/>
          <a:ln>
            <a:noFill/>
          </a:ln>
        </p:spPr>
      </p:pic>
      <p:pic>
        <p:nvPicPr>
          <p:cNvPr id="242" name="Google Shape;242;p10"/>
          <p:cNvPicPr preferRelativeResize="0"/>
          <p:nvPr/>
        </p:nvPicPr>
        <p:blipFill rotWithShape="1">
          <a:blip r:embed="rId5">
            <a:alphaModFix/>
          </a:blip>
          <a:srcRect b="13517" l="58536" r="23631" t="70894"/>
          <a:stretch/>
        </p:blipFill>
        <p:spPr>
          <a:xfrm>
            <a:off x="4266251" y="2038047"/>
            <a:ext cx="123796" cy="111760"/>
          </a:xfrm>
          <a:prstGeom prst="rect">
            <a:avLst/>
          </a:prstGeom>
          <a:noFill/>
          <a:ln>
            <a:noFill/>
          </a:ln>
        </p:spPr>
      </p:pic>
      <p:pic>
        <p:nvPicPr>
          <p:cNvPr id="243" name="Google Shape;243;p10"/>
          <p:cNvPicPr preferRelativeResize="0"/>
          <p:nvPr/>
        </p:nvPicPr>
        <p:blipFill rotWithShape="1">
          <a:blip r:embed="rId5">
            <a:alphaModFix/>
          </a:blip>
          <a:srcRect b="13517" l="58536" r="23631" t="70894"/>
          <a:stretch/>
        </p:blipFill>
        <p:spPr>
          <a:xfrm>
            <a:off x="4421348" y="2038047"/>
            <a:ext cx="123796" cy="111760"/>
          </a:xfrm>
          <a:prstGeom prst="rect">
            <a:avLst/>
          </a:prstGeom>
          <a:noFill/>
          <a:ln>
            <a:noFill/>
          </a:ln>
        </p:spPr>
      </p:pic>
      <p:pic>
        <p:nvPicPr>
          <p:cNvPr id="244" name="Google Shape;244;p10"/>
          <p:cNvPicPr preferRelativeResize="0"/>
          <p:nvPr/>
        </p:nvPicPr>
        <p:blipFill rotWithShape="1">
          <a:blip r:embed="rId5">
            <a:alphaModFix/>
          </a:blip>
          <a:srcRect b="13517" l="58536" r="23631" t="70894"/>
          <a:stretch/>
        </p:blipFill>
        <p:spPr>
          <a:xfrm>
            <a:off x="3800925" y="2203934"/>
            <a:ext cx="123796" cy="111760"/>
          </a:xfrm>
          <a:prstGeom prst="rect">
            <a:avLst/>
          </a:prstGeom>
          <a:noFill/>
          <a:ln>
            <a:noFill/>
          </a:ln>
        </p:spPr>
      </p:pic>
      <p:pic>
        <p:nvPicPr>
          <p:cNvPr id="245" name="Google Shape;245;p10"/>
          <p:cNvPicPr preferRelativeResize="0"/>
          <p:nvPr/>
        </p:nvPicPr>
        <p:blipFill rotWithShape="1">
          <a:blip r:embed="rId5">
            <a:alphaModFix/>
          </a:blip>
          <a:srcRect b="35125" l="26141" r="64933" t="13644"/>
          <a:stretch/>
        </p:blipFill>
        <p:spPr>
          <a:xfrm>
            <a:off x="3154262" y="2573498"/>
            <a:ext cx="91538" cy="5425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3"/>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24"/>
                                        </p:tgtEl>
                                        <p:attrNameLst>
                                          <p:attrName>style.visibility</p:attrName>
                                        </p:attrNameLst>
                                      </p:cBhvr>
                                      <p:to>
                                        <p:strVal val="visible"/>
                                      </p:to>
                                    </p:set>
                                    <p:animEffect filter="fade" transition="in">
                                      <p:cBhvr>
                                        <p:cTn dur="500"/>
                                        <p:tgtEl>
                                          <p:spTgt spid="2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5"/>
                                        </p:tgtEl>
                                        <p:attrNameLst>
                                          <p:attrName>style.visibility</p:attrName>
                                        </p:attrNameLst>
                                      </p:cBhvr>
                                      <p:to>
                                        <p:strVal val="visible"/>
                                      </p:to>
                                    </p:set>
                                    <p:animEffect filter="fade" transition="in">
                                      <p:cBhvr>
                                        <p:cTn dur="500"/>
                                        <p:tgtEl>
                                          <p:spTgt spid="2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11"/>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8 · 08_G3_PV_VBLOCKS.png</a:t>
            </a:r>
            <a:endParaRPr/>
          </a:p>
        </p:txBody>
      </p:sp>
      <p:pic>
        <p:nvPicPr>
          <p:cNvPr descr="08_G3_PV_VBLOCKS.png" id="251" name="Google Shape;251;p11"/>
          <p:cNvPicPr preferRelativeResize="0"/>
          <p:nvPr/>
        </p:nvPicPr>
        <p:blipFill rotWithShape="1">
          <a:blip r:embed="rId3">
            <a:alphaModFix/>
          </a:blip>
          <a:srcRect b="0" l="0" r="0" t="0"/>
          <a:stretch/>
        </p:blipFill>
        <p:spPr>
          <a:xfrm>
            <a:off x="365760" y="731520"/>
            <a:ext cx="6591631" cy="3866341"/>
          </a:xfrm>
          <a:prstGeom prst="rect">
            <a:avLst/>
          </a:prstGeom>
          <a:noFill/>
          <a:ln>
            <a:noFill/>
          </a:ln>
        </p:spPr>
      </p:pic>
      <p:pic>
        <p:nvPicPr>
          <p:cNvPr id="252" name="Google Shape;252;p11"/>
          <p:cNvPicPr preferRelativeResize="0"/>
          <p:nvPr/>
        </p:nvPicPr>
        <p:blipFill rotWithShape="1">
          <a:blip r:embed="rId4">
            <a:alphaModFix/>
          </a:blip>
          <a:srcRect b="0" l="0" r="0" t="0"/>
          <a:stretch/>
        </p:blipFill>
        <p:spPr>
          <a:xfrm>
            <a:off x="1504477" y="1651467"/>
            <a:ext cx="2706240" cy="2351375"/>
          </a:xfrm>
          <a:prstGeom prst="rect">
            <a:avLst/>
          </a:prstGeom>
          <a:noFill/>
          <a:ln>
            <a:noFill/>
          </a:ln>
        </p:spPr>
      </p:pic>
      <p:pic>
        <p:nvPicPr>
          <p:cNvPr id="253" name="Google Shape;253;p11"/>
          <p:cNvPicPr preferRelativeResize="0"/>
          <p:nvPr/>
        </p:nvPicPr>
        <p:blipFill rotWithShape="1">
          <a:blip r:embed="rId5">
            <a:alphaModFix/>
          </a:blip>
          <a:srcRect b="35125" l="26141" r="64933" t="13644"/>
          <a:stretch/>
        </p:blipFill>
        <p:spPr>
          <a:xfrm>
            <a:off x="2293027" y="2098192"/>
            <a:ext cx="91538" cy="542592"/>
          </a:xfrm>
          <a:prstGeom prst="rect">
            <a:avLst/>
          </a:prstGeom>
          <a:noFill/>
          <a:ln>
            <a:noFill/>
          </a:ln>
        </p:spPr>
      </p:pic>
      <p:sp>
        <p:nvSpPr>
          <p:cNvPr id="254" name="Google Shape;254;p11"/>
          <p:cNvSpPr txBox="1"/>
          <p:nvPr/>
        </p:nvSpPr>
        <p:spPr>
          <a:xfrm>
            <a:off x="4479704" y="2162302"/>
            <a:ext cx="9753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chemeClr val="dk1"/>
                </a:solidFill>
                <a:latin typeface="Calibri"/>
                <a:ea typeface="Calibri"/>
                <a:cs typeface="Calibri"/>
                <a:sym typeface="Calibri"/>
              </a:rPr>
              <a:t>47 </a:t>
            </a:r>
            <a:endParaRPr b="1" sz="3600">
              <a:solidFill>
                <a:schemeClr val="dk1"/>
              </a:solidFill>
              <a:latin typeface="Calibri"/>
              <a:ea typeface="Calibri"/>
              <a:cs typeface="Calibri"/>
              <a:sym typeface="Calibri"/>
            </a:endParaRPr>
          </a:p>
        </p:txBody>
      </p:sp>
      <p:sp>
        <p:nvSpPr>
          <p:cNvPr id="255" name="Google Shape;255;p11"/>
          <p:cNvSpPr txBox="1"/>
          <p:nvPr/>
        </p:nvSpPr>
        <p:spPr>
          <a:xfrm>
            <a:off x="4479704" y="2724812"/>
            <a:ext cx="975360"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3600">
                <a:solidFill>
                  <a:schemeClr val="dk1"/>
                </a:solidFill>
                <a:latin typeface="Calibri"/>
                <a:ea typeface="Calibri"/>
                <a:cs typeface="Calibri"/>
                <a:sym typeface="Calibri"/>
              </a:rPr>
              <a:t>21 </a:t>
            </a:r>
            <a:endParaRPr b="1" sz="3600">
              <a:solidFill>
                <a:schemeClr val="dk1"/>
              </a:solidFill>
              <a:latin typeface="Calibri"/>
              <a:ea typeface="Calibri"/>
              <a:cs typeface="Calibri"/>
              <a:sym typeface="Calibri"/>
            </a:endParaRPr>
          </a:p>
        </p:txBody>
      </p:sp>
      <p:cxnSp>
        <p:nvCxnSpPr>
          <p:cNvPr id="256" name="Google Shape;256;p11"/>
          <p:cNvCxnSpPr/>
          <p:nvPr/>
        </p:nvCxnSpPr>
        <p:spPr>
          <a:xfrm>
            <a:off x="4272224" y="3309587"/>
            <a:ext cx="109889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257" name="Google Shape;257;p11"/>
          <p:cNvSpPr/>
          <p:nvPr/>
        </p:nvSpPr>
        <p:spPr>
          <a:xfrm>
            <a:off x="4457702" y="3413054"/>
            <a:ext cx="816148" cy="571500"/>
          </a:xfrm>
          <a:prstGeom prst="rect">
            <a:avLst/>
          </a:prstGeom>
          <a:solidFill>
            <a:srgbClr val="D8D8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4000">
                <a:solidFill>
                  <a:schemeClr val="lt1"/>
                </a:solidFill>
                <a:latin typeface="Calibri"/>
                <a:ea typeface="Calibri"/>
                <a:cs typeface="Calibri"/>
                <a:sym typeface="Calibri"/>
              </a:rPr>
              <a:t>?</a:t>
            </a:r>
            <a:endParaRPr b="1" sz="4000">
              <a:solidFill>
                <a:schemeClr val="lt1"/>
              </a:solidFill>
              <a:latin typeface="Calibri"/>
              <a:ea typeface="Calibri"/>
              <a:cs typeface="Calibri"/>
              <a:sym typeface="Calibri"/>
            </a:endParaRPr>
          </a:p>
        </p:txBody>
      </p:sp>
      <p:pic>
        <p:nvPicPr>
          <p:cNvPr id="258" name="Google Shape;258;p11"/>
          <p:cNvPicPr preferRelativeResize="0"/>
          <p:nvPr/>
        </p:nvPicPr>
        <p:blipFill rotWithShape="1">
          <a:blip r:embed="rId5">
            <a:alphaModFix/>
          </a:blip>
          <a:srcRect b="35125" l="26141" r="64933" t="13644"/>
          <a:stretch/>
        </p:blipFill>
        <p:spPr>
          <a:xfrm>
            <a:off x="2135441" y="2098192"/>
            <a:ext cx="91538" cy="542592"/>
          </a:xfrm>
          <a:prstGeom prst="rect">
            <a:avLst/>
          </a:prstGeom>
          <a:noFill/>
          <a:ln>
            <a:noFill/>
          </a:ln>
        </p:spPr>
      </p:pic>
      <p:pic>
        <p:nvPicPr>
          <p:cNvPr id="259" name="Google Shape;259;p11"/>
          <p:cNvPicPr preferRelativeResize="0"/>
          <p:nvPr/>
        </p:nvPicPr>
        <p:blipFill rotWithShape="1">
          <a:blip r:embed="rId5">
            <a:alphaModFix/>
          </a:blip>
          <a:srcRect b="35125" l="26141" r="64933" t="13644"/>
          <a:stretch/>
        </p:blipFill>
        <p:spPr>
          <a:xfrm>
            <a:off x="2448124" y="2098192"/>
            <a:ext cx="91538" cy="542592"/>
          </a:xfrm>
          <a:prstGeom prst="rect">
            <a:avLst/>
          </a:prstGeom>
          <a:noFill/>
          <a:ln>
            <a:noFill/>
          </a:ln>
        </p:spPr>
      </p:pic>
      <p:pic>
        <p:nvPicPr>
          <p:cNvPr id="260" name="Google Shape;260;p11"/>
          <p:cNvPicPr preferRelativeResize="0"/>
          <p:nvPr/>
        </p:nvPicPr>
        <p:blipFill rotWithShape="1">
          <a:blip r:embed="rId5">
            <a:alphaModFix/>
          </a:blip>
          <a:srcRect b="35125" l="26141" r="64933" t="13644"/>
          <a:stretch/>
        </p:blipFill>
        <p:spPr>
          <a:xfrm>
            <a:off x="2135441" y="2730803"/>
            <a:ext cx="91538" cy="542592"/>
          </a:xfrm>
          <a:prstGeom prst="rect">
            <a:avLst/>
          </a:prstGeom>
          <a:noFill/>
          <a:ln>
            <a:noFill/>
          </a:ln>
        </p:spPr>
      </p:pic>
      <p:pic>
        <p:nvPicPr>
          <p:cNvPr id="261" name="Google Shape;261;p11"/>
          <p:cNvPicPr preferRelativeResize="0"/>
          <p:nvPr/>
        </p:nvPicPr>
        <p:blipFill rotWithShape="1">
          <a:blip r:embed="rId5">
            <a:alphaModFix/>
          </a:blip>
          <a:srcRect b="35125" l="26141" r="64933" t="13644"/>
          <a:stretch/>
        </p:blipFill>
        <p:spPr>
          <a:xfrm>
            <a:off x="2290538" y="2730803"/>
            <a:ext cx="91538" cy="542592"/>
          </a:xfrm>
          <a:prstGeom prst="rect">
            <a:avLst/>
          </a:prstGeom>
          <a:noFill/>
          <a:ln>
            <a:noFill/>
          </a:ln>
        </p:spPr>
      </p:pic>
      <p:pic>
        <p:nvPicPr>
          <p:cNvPr id="262" name="Google Shape;262;p11"/>
          <p:cNvPicPr preferRelativeResize="0"/>
          <p:nvPr/>
        </p:nvPicPr>
        <p:blipFill rotWithShape="1">
          <a:blip r:embed="rId5">
            <a:alphaModFix/>
          </a:blip>
          <a:srcRect b="13517" l="58536" r="23631" t="70894"/>
          <a:stretch/>
        </p:blipFill>
        <p:spPr>
          <a:xfrm>
            <a:off x="3091575" y="2185539"/>
            <a:ext cx="123796" cy="111760"/>
          </a:xfrm>
          <a:prstGeom prst="rect">
            <a:avLst/>
          </a:prstGeom>
          <a:noFill/>
          <a:ln>
            <a:noFill/>
          </a:ln>
        </p:spPr>
      </p:pic>
      <p:pic>
        <p:nvPicPr>
          <p:cNvPr id="263" name="Google Shape;263;p11"/>
          <p:cNvPicPr preferRelativeResize="0"/>
          <p:nvPr/>
        </p:nvPicPr>
        <p:blipFill rotWithShape="1">
          <a:blip r:embed="rId5">
            <a:alphaModFix/>
          </a:blip>
          <a:srcRect b="13517" l="58536" r="23631" t="70894"/>
          <a:stretch/>
        </p:blipFill>
        <p:spPr>
          <a:xfrm>
            <a:off x="3246347" y="2185539"/>
            <a:ext cx="123796" cy="111760"/>
          </a:xfrm>
          <a:prstGeom prst="rect">
            <a:avLst/>
          </a:prstGeom>
          <a:noFill/>
          <a:ln>
            <a:noFill/>
          </a:ln>
        </p:spPr>
      </p:pic>
      <p:pic>
        <p:nvPicPr>
          <p:cNvPr id="264" name="Google Shape;264;p11"/>
          <p:cNvPicPr preferRelativeResize="0"/>
          <p:nvPr/>
        </p:nvPicPr>
        <p:blipFill rotWithShape="1">
          <a:blip r:embed="rId5">
            <a:alphaModFix/>
          </a:blip>
          <a:srcRect b="13517" l="58536" r="23631" t="70894"/>
          <a:stretch/>
        </p:blipFill>
        <p:spPr>
          <a:xfrm>
            <a:off x="3122551" y="2784830"/>
            <a:ext cx="123796" cy="111760"/>
          </a:xfrm>
          <a:prstGeom prst="rect">
            <a:avLst/>
          </a:prstGeom>
          <a:noFill/>
          <a:ln>
            <a:noFill/>
          </a:ln>
        </p:spPr>
      </p:pic>
      <p:pic>
        <p:nvPicPr>
          <p:cNvPr id="265" name="Google Shape;265;p11"/>
          <p:cNvPicPr preferRelativeResize="0"/>
          <p:nvPr/>
        </p:nvPicPr>
        <p:blipFill rotWithShape="1">
          <a:blip r:embed="rId5">
            <a:alphaModFix/>
          </a:blip>
          <a:srcRect b="35125" l="26141" r="64933" t="13644"/>
          <a:stretch/>
        </p:blipFill>
        <p:spPr>
          <a:xfrm>
            <a:off x="2588157" y="2098192"/>
            <a:ext cx="91538" cy="542592"/>
          </a:xfrm>
          <a:prstGeom prst="rect">
            <a:avLst/>
          </a:prstGeom>
          <a:noFill/>
          <a:ln>
            <a:noFill/>
          </a:ln>
        </p:spPr>
      </p:pic>
      <p:sp>
        <p:nvSpPr>
          <p:cNvPr id="266" name="Google Shape;266;p11"/>
          <p:cNvSpPr txBox="1"/>
          <p:nvPr/>
        </p:nvSpPr>
        <p:spPr>
          <a:xfrm>
            <a:off x="7521047" y="211045"/>
            <a:ext cx="4246995" cy="59862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chemeClr val="dk1"/>
                </a:solidFill>
                <a:latin typeface="Calibri"/>
                <a:ea typeface="Calibri"/>
                <a:cs typeface="Calibri"/>
                <a:sym typeface="Calibri"/>
              </a:rPr>
              <a:t>Recommendations</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Replace the entire slide content with the following:</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Title Text 1:</a:t>
            </a:r>
            <a:r>
              <a:rPr lang="en-GB" sz="1400">
                <a:solidFill>
                  <a:schemeClr val="dk1"/>
                </a:solidFill>
                <a:latin typeface="Calibri"/>
                <a:ea typeface="Calibri"/>
                <a:cs typeface="Calibri"/>
                <a:sym typeface="Calibri"/>
              </a:rPr>
              <a:t> संख्याएँ जोड़िए।</a:t>
            </a:r>
            <a:br>
              <a:rPr lang="en-GB" sz="1400">
                <a:solidFill>
                  <a:schemeClr val="dk1"/>
                </a:solidFill>
                <a:latin typeface="Calibri"/>
                <a:ea typeface="Calibri"/>
                <a:cs typeface="Calibri"/>
                <a:sym typeface="Calibri"/>
              </a:rPr>
            </a:br>
            <a:r>
              <a:rPr b="1" lang="en-GB" sz="1400">
                <a:solidFill>
                  <a:schemeClr val="dk1"/>
                </a:solidFill>
                <a:latin typeface="Calibri"/>
                <a:ea typeface="Calibri"/>
                <a:cs typeface="Calibri"/>
                <a:sym typeface="Calibri"/>
              </a:rPr>
              <a:t>Equation:</a:t>
            </a:r>
            <a:r>
              <a:rPr lang="en-GB" sz="1400">
                <a:solidFill>
                  <a:schemeClr val="dk1"/>
                </a:solidFill>
                <a:latin typeface="Calibri"/>
                <a:ea typeface="Calibri"/>
                <a:cs typeface="Calibri"/>
                <a:sym typeface="Calibri"/>
              </a:rPr>
              <a:t> </a:t>
            </a:r>
            <a:r>
              <a:rPr b="1" lang="en-GB" sz="1400">
                <a:solidFill>
                  <a:schemeClr val="dk1"/>
                </a:solidFill>
                <a:latin typeface="Calibri"/>
                <a:ea typeface="Calibri"/>
                <a:cs typeface="Calibri"/>
                <a:sym typeface="Calibri"/>
              </a:rPr>
              <a:t>47 + 21 =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Show the PV tables with the numbers built using blocks one by one.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400">
                <a:solidFill>
                  <a:schemeClr val="dk1"/>
                </a:solidFill>
                <a:latin typeface="Calibri"/>
                <a:ea typeface="Calibri"/>
                <a:cs typeface="Calibri"/>
                <a:sym typeface="Calibri"/>
              </a:rPr>
            </a:br>
            <a:r>
              <a:rPr b="1" lang="en-GB" sz="1400">
                <a:solidFill>
                  <a:schemeClr val="dk1"/>
                </a:solidFill>
                <a:latin typeface="Calibri"/>
                <a:ea typeface="Calibri"/>
                <a:cs typeface="Calibri"/>
                <a:sym typeface="Calibri"/>
              </a:rPr>
              <a:t>Title Text 2:</a:t>
            </a:r>
            <a:r>
              <a:rPr lang="en-GB" sz="1400">
                <a:solidFill>
                  <a:schemeClr val="dk1"/>
                </a:solidFill>
                <a:latin typeface="Calibri"/>
                <a:ea typeface="Calibri"/>
                <a:cs typeface="Calibri"/>
                <a:sym typeface="Calibri"/>
              </a:rPr>
              <a:t> सही जोड़ टाइप करिए।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VO:</a:t>
            </a:r>
            <a:r>
              <a:rPr lang="en-GB" sz="1400">
                <a:solidFill>
                  <a:schemeClr val="dk1"/>
                </a:solidFill>
                <a:latin typeface="Calibri"/>
                <a:ea typeface="Calibri"/>
                <a:cs typeface="Calibri"/>
                <a:sym typeface="Calibri"/>
              </a:rPr>
              <a:t> 47 और 21 को जोड़िए और सही जोड़ टाइप करिए।</a:t>
            </a:r>
            <a:br>
              <a:rPr lang="en-GB" sz="1400">
                <a:solidFill>
                  <a:schemeClr val="dk1"/>
                </a:solidFill>
                <a:latin typeface="Calibri"/>
                <a:ea typeface="Calibri"/>
                <a:cs typeface="Calibri"/>
                <a:sym typeface="Calibri"/>
              </a:rPr>
            </a:br>
            <a:r>
              <a:rPr i="1" lang="en-GB" sz="1400">
                <a:solidFill>
                  <a:schemeClr val="dk1"/>
                </a:solidFill>
                <a:latin typeface="Calibri"/>
                <a:ea typeface="Calibri"/>
                <a:cs typeface="Calibri"/>
                <a:sym typeface="Calibri"/>
              </a:rPr>
              <a:t>[Tap on each ones and tens blocks to add. Then, show an answer counter below with a hand nudge. On tap, open the number pad for the child to enter the answer.]</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Correct answer:</a:t>
            </a:r>
            <a:r>
              <a:rPr lang="en-GB" sz="1400">
                <a:solidFill>
                  <a:schemeClr val="dk1"/>
                </a:solidFill>
                <a:latin typeface="Calibri"/>
                <a:ea typeface="Calibri"/>
                <a:cs typeface="Calibri"/>
                <a:sym typeface="Calibri"/>
              </a:rPr>
              <a:t> शाबाश! 47 और 21 का जोड़ 68 है। </a:t>
            </a:r>
            <a:br>
              <a:rPr lang="en-GB" sz="1400">
                <a:solidFill>
                  <a:schemeClr val="dk1"/>
                </a:solidFill>
                <a:latin typeface="Calibri"/>
                <a:ea typeface="Calibri"/>
                <a:cs typeface="Calibri"/>
                <a:sym typeface="Calibri"/>
              </a:rPr>
            </a:br>
            <a:r>
              <a:rPr i="1" lang="en-GB" sz="1400">
                <a:solidFill>
                  <a:schemeClr val="dk1"/>
                </a:solidFill>
                <a:latin typeface="Calibri"/>
                <a:ea typeface="Calibri"/>
                <a:cs typeface="Calibri"/>
                <a:sym typeface="Calibri"/>
              </a:rPr>
              <a:t>[Move the typed answer to the equation, replacing the </a:t>
            </a:r>
            <a:r>
              <a:rPr b="1" i="1" lang="en-GB" sz="1400">
                <a:solidFill>
                  <a:schemeClr val="dk1"/>
                </a:solidFill>
                <a:latin typeface="Calibri"/>
                <a:ea typeface="Calibri"/>
                <a:cs typeface="Calibri"/>
                <a:sym typeface="Calibri"/>
              </a:rPr>
              <a:t>“?”</a:t>
            </a:r>
            <a:r>
              <a:rPr i="1" lang="en-GB" sz="1400">
                <a:solidFill>
                  <a:schemeClr val="dk1"/>
                </a:solidFill>
                <a:latin typeface="Calibri"/>
                <a:ea typeface="Calibri"/>
                <a:cs typeface="Calibri"/>
                <a:sym typeface="Calibri"/>
              </a:rPr>
              <a:t> symbol.]</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Feedback/Hint</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WA1:</a:t>
            </a:r>
            <a:r>
              <a:rPr lang="en-GB" sz="1400">
                <a:solidFill>
                  <a:schemeClr val="dk1"/>
                </a:solidFill>
                <a:latin typeface="Calibri"/>
                <a:ea typeface="Calibri"/>
                <a:cs typeface="Calibri"/>
                <a:sym typeface="Calibri"/>
              </a:rPr>
              <a:t> Wiggle + VO: </a:t>
            </a:r>
            <a:r>
              <a:rPr b="1" lang="en-GB" sz="1400">
                <a:solidFill>
                  <a:schemeClr val="dk1"/>
                </a:solidFill>
                <a:latin typeface="Calibri"/>
                <a:ea typeface="Calibri"/>
                <a:cs typeface="Calibri"/>
                <a:sym typeface="Calibri"/>
              </a:rPr>
              <a:t>ब्लॉक्स को गिनिए और सही जोड़ टाइप करिए।</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WA2:</a:t>
            </a:r>
            <a:r>
              <a:rPr lang="en-GB" sz="1400">
                <a:solidFill>
                  <a:schemeClr val="dk1"/>
                </a:solidFill>
                <a:latin typeface="Calibri"/>
                <a:ea typeface="Calibri"/>
                <a:cs typeface="Calibri"/>
                <a:sym typeface="Calibri"/>
              </a:rPr>
              <a:t> Wiggle + VO: </a:t>
            </a:r>
            <a:r>
              <a:rPr b="1" lang="en-GB" sz="1400">
                <a:solidFill>
                  <a:schemeClr val="dk1"/>
                </a:solidFill>
                <a:latin typeface="Calibri"/>
                <a:ea typeface="Calibri"/>
                <a:cs typeface="Calibri"/>
                <a:sym typeface="Calibri"/>
              </a:rPr>
              <a:t>ध्यान से देखिए, कुल 6 दहाइयाँ और 8 इकाइयाँ हैं।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WA3:</a:t>
            </a:r>
            <a:r>
              <a:rPr lang="en-GB" sz="1400">
                <a:solidFill>
                  <a:schemeClr val="dk1"/>
                </a:solidFill>
                <a:latin typeface="Calibri"/>
                <a:ea typeface="Calibri"/>
                <a:cs typeface="Calibri"/>
                <a:sym typeface="Calibri"/>
              </a:rPr>
              <a:t> Wiggle + highlight the correct digit buttons in sequence. As the child taps them, enter the digits in the answer counter.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800">
              <a:solidFill>
                <a:srgbClr val="1B2A44"/>
              </a:solidFill>
              <a:latin typeface="Calibri"/>
              <a:ea typeface="Calibri"/>
              <a:cs typeface="Calibri"/>
              <a:sym typeface="Calibri"/>
            </a:endParaRPr>
          </a:p>
        </p:txBody>
      </p:sp>
      <p:pic>
        <p:nvPicPr>
          <p:cNvPr id="267" name="Google Shape;267;p11"/>
          <p:cNvPicPr preferRelativeResize="0"/>
          <p:nvPr/>
        </p:nvPicPr>
        <p:blipFill rotWithShape="1">
          <a:blip r:embed="rId5">
            <a:alphaModFix/>
          </a:blip>
          <a:srcRect b="13517" l="58536" r="23631" t="70894"/>
          <a:stretch/>
        </p:blipFill>
        <p:spPr>
          <a:xfrm>
            <a:off x="3577232" y="2185539"/>
            <a:ext cx="123796" cy="111760"/>
          </a:xfrm>
          <a:prstGeom prst="rect">
            <a:avLst/>
          </a:prstGeom>
          <a:noFill/>
          <a:ln>
            <a:noFill/>
          </a:ln>
        </p:spPr>
      </p:pic>
      <p:pic>
        <p:nvPicPr>
          <p:cNvPr id="268" name="Google Shape;268;p11"/>
          <p:cNvPicPr preferRelativeResize="0"/>
          <p:nvPr/>
        </p:nvPicPr>
        <p:blipFill rotWithShape="1">
          <a:blip r:embed="rId5">
            <a:alphaModFix/>
          </a:blip>
          <a:srcRect b="13517" l="58536" r="23631" t="70894"/>
          <a:stretch/>
        </p:blipFill>
        <p:spPr>
          <a:xfrm>
            <a:off x="3408317" y="2185539"/>
            <a:ext cx="123796" cy="111760"/>
          </a:xfrm>
          <a:prstGeom prst="rect">
            <a:avLst/>
          </a:prstGeom>
          <a:noFill/>
          <a:ln>
            <a:noFill/>
          </a:ln>
        </p:spPr>
      </p:pic>
      <p:pic>
        <p:nvPicPr>
          <p:cNvPr id="269" name="Google Shape;269;p11"/>
          <p:cNvPicPr preferRelativeResize="0"/>
          <p:nvPr/>
        </p:nvPicPr>
        <p:blipFill rotWithShape="1">
          <a:blip r:embed="rId5">
            <a:alphaModFix/>
          </a:blip>
          <a:srcRect b="13517" l="58536" r="23631" t="70894"/>
          <a:stretch/>
        </p:blipFill>
        <p:spPr>
          <a:xfrm>
            <a:off x="3746147" y="2186301"/>
            <a:ext cx="123796" cy="111760"/>
          </a:xfrm>
          <a:prstGeom prst="rect">
            <a:avLst/>
          </a:prstGeom>
          <a:noFill/>
          <a:ln>
            <a:noFill/>
          </a:ln>
        </p:spPr>
      </p:pic>
      <p:pic>
        <p:nvPicPr>
          <p:cNvPr id="270" name="Google Shape;270;p11"/>
          <p:cNvPicPr preferRelativeResize="0"/>
          <p:nvPr/>
        </p:nvPicPr>
        <p:blipFill rotWithShape="1">
          <a:blip r:embed="rId5">
            <a:alphaModFix/>
          </a:blip>
          <a:srcRect b="13517" l="58536" r="23631" t="70894"/>
          <a:stretch/>
        </p:blipFill>
        <p:spPr>
          <a:xfrm>
            <a:off x="3091575" y="2363208"/>
            <a:ext cx="123796" cy="111760"/>
          </a:xfrm>
          <a:prstGeom prst="rect">
            <a:avLst/>
          </a:prstGeom>
          <a:noFill/>
          <a:ln>
            <a:noFill/>
          </a:ln>
        </p:spPr>
      </p:pic>
      <p:pic>
        <p:nvPicPr>
          <p:cNvPr id="271" name="Google Shape;271;p11"/>
          <p:cNvPicPr preferRelativeResize="0"/>
          <p:nvPr/>
        </p:nvPicPr>
        <p:blipFill rotWithShape="1">
          <a:blip r:embed="rId5">
            <a:alphaModFix/>
          </a:blip>
          <a:srcRect b="13517" l="58536" r="23631" t="70894"/>
          <a:stretch/>
        </p:blipFill>
        <p:spPr>
          <a:xfrm>
            <a:off x="3259512" y="2363002"/>
            <a:ext cx="123796" cy="1117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55"/>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5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5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2"/>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9 · 09_P1_PV_COLUMN.png</a:t>
            </a:r>
            <a:endParaRPr/>
          </a:p>
        </p:txBody>
      </p:sp>
      <p:pic>
        <p:nvPicPr>
          <p:cNvPr descr="09_P1_PV_COLUMN.png" id="277" name="Google Shape;277;p12"/>
          <p:cNvPicPr preferRelativeResize="0"/>
          <p:nvPr/>
        </p:nvPicPr>
        <p:blipFill rotWithShape="1">
          <a:blip r:embed="rId3">
            <a:alphaModFix/>
          </a:blip>
          <a:srcRect b="0" l="0" r="0" t="0"/>
          <a:stretch/>
        </p:blipFill>
        <p:spPr>
          <a:xfrm>
            <a:off x="365760" y="731521"/>
            <a:ext cx="2053512" cy="1033670"/>
          </a:xfrm>
          <a:prstGeom prst="rect">
            <a:avLst/>
          </a:prstGeom>
          <a:noFill/>
          <a:ln>
            <a:noFill/>
          </a:ln>
        </p:spPr>
      </p:pic>
      <p:sp>
        <p:nvSpPr>
          <p:cNvPr id="278" name="Google Shape;278;p12"/>
          <p:cNvSpPr txBox="1"/>
          <p:nvPr/>
        </p:nvSpPr>
        <p:spPr>
          <a:xfrm>
            <a:off x="3452458" y="1590636"/>
            <a:ext cx="97536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chemeClr val="dk1"/>
                </a:solidFill>
                <a:latin typeface="Calibri"/>
                <a:ea typeface="Calibri"/>
                <a:cs typeface="Calibri"/>
                <a:sym typeface="Calibri"/>
              </a:rPr>
              <a:t>6 1 </a:t>
            </a:r>
            <a:endParaRPr b="1" sz="4400">
              <a:solidFill>
                <a:schemeClr val="dk1"/>
              </a:solidFill>
              <a:latin typeface="Calibri"/>
              <a:ea typeface="Calibri"/>
              <a:cs typeface="Calibri"/>
              <a:sym typeface="Calibri"/>
            </a:endParaRPr>
          </a:p>
        </p:txBody>
      </p:sp>
      <p:sp>
        <p:nvSpPr>
          <p:cNvPr id="279" name="Google Shape;279;p12"/>
          <p:cNvSpPr txBox="1"/>
          <p:nvPr/>
        </p:nvSpPr>
        <p:spPr>
          <a:xfrm>
            <a:off x="3003970" y="2155386"/>
            <a:ext cx="1382468"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chemeClr val="dk1"/>
                </a:solidFill>
                <a:latin typeface="Calibri"/>
                <a:ea typeface="Calibri"/>
                <a:cs typeface="Calibri"/>
                <a:sym typeface="Calibri"/>
              </a:rPr>
              <a:t>+</a:t>
            </a:r>
            <a:r>
              <a:rPr b="1" lang="en-GB" sz="1600">
                <a:solidFill>
                  <a:schemeClr val="dk1"/>
                </a:solidFill>
                <a:latin typeface="Calibri"/>
                <a:ea typeface="Calibri"/>
                <a:cs typeface="Calibri"/>
                <a:sym typeface="Calibri"/>
              </a:rPr>
              <a:t> </a:t>
            </a:r>
            <a:r>
              <a:rPr b="1" lang="en-GB" sz="4400">
                <a:solidFill>
                  <a:schemeClr val="dk1"/>
                </a:solidFill>
                <a:latin typeface="Calibri"/>
                <a:ea typeface="Calibri"/>
                <a:cs typeface="Calibri"/>
                <a:sym typeface="Calibri"/>
              </a:rPr>
              <a:t>2 0 </a:t>
            </a:r>
            <a:endParaRPr b="1" sz="4400">
              <a:solidFill>
                <a:schemeClr val="dk1"/>
              </a:solidFill>
              <a:latin typeface="Calibri"/>
              <a:ea typeface="Calibri"/>
              <a:cs typeface="Calibri"/>
              <a:sym typeface="Calibri"/>
            </a:endParaRPr>
          </a:p>
        </p:txBody>
      </p:sp>
      <p:cxnSp>
        <p:nvCxnSpPr>
          <p:cNvPr id="280" name="Google Shape;280;p12"/>
          <p:cNvCxnSpPr/>
          <p:nvPr/>
        </p:nvCxnSpPr>
        <p:spPr>
          <a:xfrm>
            <a:off x="3106001" y="2873093"/>
            <a:ext cx="109889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281" name="Google Shape;281;p12"/>
          <p:cNvSpPr/>
          <p:nvPr/>
        </p:nvSpPr>
        <p:spPr>
          <a:xfrm>
            <a:off x="6727020" y="3262310"/>
            <a:ext cx="816148" cy="571500"/>
          </a:xfrm>
          <a:prstGeom prst="rect">
            <a:avLst/>
          </a:prstGeom>
          <a:solidFill>
            <a:srgbClr val="D8D8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4800">
                <a:solidFill>
                  <a:schemeClr val="lt1"/>
                </a:solidFill>
                <a:latin typeface="Calibri"/>
                <a:ea typeface="Calibri"/>
                <a:cs typeface="Calibri"/>
                <a:sym typeface="Calibri"/>
              </a:rPr>
              <a:t>?</a:t>
            </a:r>
            <a:endParaRPr b="1" sz="4800">
              <a:solidFill>
                <a:schemeClr val="lt1"/>
              </a:solidFill>
              <a:latin typeface="Calibri"/>
              <a:ea typeface="Calibri"/>
              <a:cs typeface="Calibri"/>
              <a:sym typeface="Calibri"/>
            </a:endParaRPr>
          </a:p>
        </p:txBody>
      </p:sp>
      <p:sp>
        <p:nvSpPr>
          <p:cNvPr id="282" name="Google Shape;282;p12"/>
          <p:cNvSpPr txBox="1"/>
          <p:nvPr/>
        </p:nvSpPr>
        <p:spPr>
          <a:xfrm>
            <a:off x="8108227" y="311340"/>
            <a:ext cx="4000195" cy="668644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1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Replace the entire slide content with the following:</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Instruction:</a:t>
            </a:r>
            <a:r>
              <a:rPr lang="en-GB" sz="1400">
                <a:solidFill>
                  <a:schemeClr val="dk1"/>
                </a:solidFill>
                <a:latin typeface="Calibri"/>
                <a:ea typeface="Calibri"/>
                <a:cs typeface="Calibri"/>
                <a:sym typeface="Calibri"/>
              </a:rPr>
              <a:t> संख्याएँ जोड़िए और सही जोड़ चुनिए।</a:t>
            </a:r>
            <a:br>
              <a:rPr lang="en-GB" sz="1400">
                <a:solidFill>
                  <a:schemeClr val="dk1"/>
                </a:solidFill>
                <a:latin typeface="Calibri"/>
                <a:ea typeface="Calibri"/>
                <a:cs typeface="Calibri"/>
                <a:sym typeface="Calibri"/>
              </a:rPr>
            </a:br>
            <a:r>
              <a:rPr b="1" lang="en-GB" sz="1400">
                <a:solidFill>
                  <a:schemeClr val="dk1"/>
                </a:solidFill>
                <a:latin typeface="Calibri"/>
                <a:ea typeface="Calibri"/>
                <a:cs typeface="Calibri"/>
                <a:sym typeface="Calibri"/>
              </a:rPr>
              <a:t>Equation:</a:t>
            </a:r>
            <a:r>
              <a:rPr lang="en-GB" sz="1400">
                <a:solidFill>
                  <a:schemeClr val="dk1"/>
                </a:solidFill>
                <a:latin typeface="Calibri"/>
                <a:ea typeface="Calibri"/>
                <a:cs typeface="Calibri"/>
                <a:sym typeface="Calibri"/>
              </a:rPr>
              <a:t> </a:t>
            </a:r>
            <a:r>
              <a:rPr b="1" lang="en-GB" sz="1400">
                <a:solidFill>
                  <a:schemeClr val="dk1"/>
                </a:solidFill>
                <a:latin typeface="Calibri"/>
                <a:ea typeface="Calibri"/>
                <a:cs typeface="Calibri"/>
                <a:sym typeface="Calibri"/>
              </a:rPr>
              <a:t>61 + 20 = ?</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Show three answer options below. The child solves the addition mentally and selects the correct answer.</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VO:</a:t>
            </a:r>
            <a:r>
              <a:rPr lang="en-GB" sz="1400">
                <a:solidFill>
                  <a:schemeClr val="dk1"/>
                </a:solidFill>
                <a:latin typeface="Calibri"/>
                <a:ea typeface="Calibri"/>
                <a:cs typeface="Calibri"/>
                <a:sym typeface="Calibri"/>
              </a:rPr>
              <a:t> सही जोड़ चुनिए।</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Correct answer:</a:t>
            </a:r>
            <a:r>
              <a:rPr lang="en-GB" sz="1400">
                <a:solidFill>
                  <a:schemeClr val="dk1"/>
                </a:solidFill>
                <a:latin typeface="Calibri"/>
                <a:ea typeface="Calibri"/>
                <a:cs typeface="Calibri"/>
                <a:sym typeface="Calibri"/>
              </a:rPr>
              <a:t> शाबाश! 61 और 20 का जोड़ 81 है।</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Feedback/Hint</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WA1:</a:t>
            </a:r>
            <a:r>
              <a:rPr lang="en-GB" sz="1400">
                <a:solidFill>
                  <a:schemeClr val="dk1"/>
                </a:solidFill>
                <a:latin typeface="Calibri"/>
                <a:ea typeface="Calibri"/>
                <a:cs typeface="Calibri"/>
                <a:sym typeface="Calibri"/>
              </a:rPr>
              <a:t> Wiggle + VO: </a:t>
            </a:r>
            <a:r>
              <a:rPr b="1" lang="en-GB" sz="1400">
                <a:solidFill>
                  <a:schemeClr val="dk1"/>
                </a:solidFill>
                <a:latin typeface="Calibri"/>
                <a:ea typeface="Calibri"/>
                <a:cs typeface="Calibri"/>
                <a:sym typeface="Calibri"/>
              </a:rPr>
              <a:t>ध्यान से देखिए— 1 इकाई और 0 इकाई; 6 दहाई और 2  दहाई। अब सही जोड़ चुनिए।</a:t>
            </a:r>
            <a:br>
              <a:rPr lang="en-GB" sz="1400">
                <a:solidFill>
                  <a:schemeClr val="dk1"/>
                </a:solidFill>
                <a:latin typeface="Calibri"/>
                <a:ea typeface="Calibri"/>
                <a:cs typeface="Calibri"/>
                <a:sym typeface="Calibri"/>
              </a:rPr>
            </a:br>
            <a:r>
              <a:rPr i="1" lang="en-GB" sz="1400">
                <a:solidFill>
                  <a:schemeClr val="dk1"/>
                </a:solidFill>
                <a:latin typeface="Calibri"/>
                <a:ea typeface="Calibri"/>
                <a:cs typeface="Calibri"/>
                <a:sym typeface="Calibri"/>
              </a:rPr>
              <a:t>[Highlight the respective Tens and Ones digits in sync with the VO.]</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WA2:</a:t>
            </a:r>
            <a:r>
              <a:rPr lang="en-GB" sz="1400">
                <a:solidFill>
                  <a:schemeClr val="dk1"/>
                </a:solidFill>
                <a:latin typeface="Calibri"/>
                <a:ea typeface="Calibri"/>
                <a:cs typeface="Calibri"/>
                <a:sym typeface="Calibri"/>
              </a:rPr>
              <a:t> Wiggle + show </a:t>
            </a:r>
            <a:r>
              <a:rPr b="1" lang="en-GB" sz="1400">
                <a:solidFill>
                  <a:schemeClr val="dk1"/>
                </a:solidFill>
                <a:latin typeface="Calibri"/>
                <a:ea typeface="Calibri"/>
                <a:cs typeface="Calibri"/>
                <a:sym typeface="Calibri"/>
              </a:rPr>
              <a:t>61 </a:t>
            </a:r>
            <a:r>
              <a:rPr lang="en-GB" sz="1400">
                <a:solidFill>
                  <a:schemeClr val="dk1"/>
                </a:solidFill>
                <a:latin typeface="Calibri"/>
                <a:ea typeface="Calibri"/>
                <a:cs typeface="Calibri"/>
                <a:sym typeface="Calibri"/>
              </a:rPr>
              <a:t> and </a:t>
            </a:r>
            <a:r>
              <a:rPr b="1" lang="en-GB" sz="1400">
                <a:solidFill>
                  <a:schemeClr val="dk1"/>
                </a:solidFill>
                <a:latin typeface="Calibri"/>
                <a:ea typeface="Calibri"/>
                <a:cs typeface="Calibri"/>
                <a:sym typeface="Calibri"/>
              </a:rPr>
              <a:t>20 </a:t>
            </a:r>
            <a:r>
              <a:rPr lang="en-GB" sz="1400">
                <a:solidFill>
                  <a:schemeClr val="dk1"/>
                </a:solidFill>
                <a:latin typeface="Calibri"/>
                <a:ea typeface="Calibri"/>
                <a:cs typeface="Calibri"/>
                <a:sym typeface="Calibri"/>
              </a:rPr>
              <a:t> using blocks on separate tables + VO: </a:t>
            </a:r>
            <a:r>
              <a:rPr b="1" lang="en-GB" sz="1400">
                <a:solidFill>
                  <a:schemeClr val="dk1"/>
                </a:solidFill>
                <a:latin typeface="Calibri"/>
                <a:ea typeface="Calibri"/>
                <a:cs typeface="Calibri"/>
                <a:sym typeface="Calibri"/>
              </a:rPr>
              <a:t>ब्लॉक्स को गिनिए और सही जोड़ चुनिए।</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WA3:</a:t>
            </a:r>
            <a:r>
              <a:rPr lang="en-GB" sz="1400">
                <a:solidFill>
                  <a:schemeClr val="dk1"/>
                </a:solidFill>
                <a:latin typeface="Calibri"/>
                <a:ea typeface="Calibri"/>
                <a:cs typeface="Calibri"/>
                <a:sym typeface="Calibri"/>
              </a:rPr>
              <a:t> Wiggle + Animate the blocks moving to a third PV table. Hide the answer options during the animation. Once complete, remove the first two rows of the table, then below the table, show the answer options again, and highlight the correct option only.</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br>
              <a:rPr lang="en-GB" sz="1050">
                <a:solidFill>
                  <a:schemeClr val="dk1"/>
                </a:solidFill>
                <a:latin typeface="Calibri"/>
                <a:ea typeface="Calibri"/>
                <a:cs typeface="Calibri"/>
                <a:sym typeface="Calibri"/>
              </a:rPr>
            </a:br>
            <a:endParaRPr sz="800">
              <a:solidFill>
                <a:srgbClr val="1B2A44"/>
              </a:solidFill>
              <a:latin typeface="Calibri"/>
              <a:ea typeface="Calibri"/>
              <a:cs typeface="Calibri"/>
              <a:sym typeface="Calibri"/>
            </a:endParaRPr>
          </a:p>
        </p:txBody>
      </p:sp>
      <p:sp>
        <p:nvSpPr>
          <p:cNvPr id="283" name="Google Shape;283;p12"/>
          <p:cNvSpPr txBox="1"/>
          <p:nvPr/>
        </p:nvSpPr>
        <p:spPr>
          <a:xfrm>
            <a:off x="1908217" y="4474750"/>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80 </a:t>
            </a:r>
            <a:endParaRPr b="1" sz="4000">
              <a:solidFill>
                <a:schemeClr val="dk1"/>
              </a:solidFill>
              <a:latin typeface="Calibri"/>
              <a:ea typeface="Calibri"/>
              <a:cs typeface="Calibri"/>
              <a:sym typeface="Calibri"/>
            </a:endParaRPr>
          </a:p>
        </p:txBody>
      </p:sp>
      <p:sp>
        <p:nvSpPr>
          <p:cNvPr id="284" name="Google Shape;284;p12"/>
          <p:cNvSpPr txBox="1"/>
          <p:nvPr/>
        </p:nvSpPr>
        <p:spPr>
          <a:xfrm>
            <a:off x="3774674" y="4474750"/>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18 </a:t>
            </a:r>
            <a:endParaRPr b="1" sz="4000">
              <a:solidFill>
                <a:schemeClr val="dk1"/>
              </a:solidFill>
              <a:latin typeface="Calibri"/>
              <a:ea typeface="Calibri"/>
              <a:cs typeface="Calibri"/>
              <a:sym typeface="Calibri"/>
            </a:endParaRPr>
          </a:p>
        </p:txBody>
      </p:sp>
      <p:sp>
        <p:nvSpPr>
          <p:cNvPr id="285" name="Google Shape;285;p12"/>
          <p:cNvSpPr txBox="1"/>
          <p:nvPr/>
        </p:nvSpPr>
        <p:spPr>
          <a:xfrm>
            <a:off x="5377574" y="4425066"/>
            <a:ext cx="975360" cy="70788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000">
                <a:solidFill>
                  <a:schemeClr val="dk1"/>
                </a:solidFill>
                <a:latin typeface="Calibri"/>
                <a:ea typeface="Calibri"/>
                <a:cs typeface="Calibri"/>
                <a:sym typeface="Calibri"/>
              </a:rPr>
              <a:t>81 </a:t>
            </a:r>
            <a:endParaRPr b="1" sz="4000">
              <a:solidFill>
                <a:schemeClr val="dk1"/>
              </a:solidFill>
              <a:latin typeface="Calibri"/>
              <a:ea typeface="Calibri"/>
              <a:cs typeface="Calibri"/>
              <a:sym typeface="Calibri"/>
            </a:endParaRPr>
          </a:p>
        </p:txBody>
      </p:sp>
      <p:sp>
        <p:nvSpPr>
          <p:cNvPr id="286" name="Google Shape;286;p12"/>
          <p:cNvSpPr txBox="1"/>
          <p:nvPr/>
        </p:nvSpPr>
        <p:spPr>
          <a:xfrm>
            <a:off x="3026353" y="2806840"/>
            <a:ext cx="1382468"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chemeClr val="dk1"/>
                </a:solidFill>
                <a:latin typeface="Calibri"/>
                <a:ea typeface="Calibri"/>
                <a:cs typeface="Calibri"/>
                <a:sym typeface="Calibri"/>
              </a:rPr>
              <a:t>   8 1 </a:t>
            </a:r>
            <a:endParaRPr b="1" sz="44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500"/>
                                        <p:tgtEl>
                                          <p:spTgt spid="2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500"/>
                                        <p:tgtEl>
                                          <p:spTgt spid="2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1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10 · 10_P2_PV_VBLOCKS.png</a:t>
            </a:r>
            <a:endParaRPr/>
          </a:p>
        </p:txBody>
      </p:sp>
      <p:pic>
        <p:nvPicPr>
          <p:cNvPr descr="10_P2_PV_VBLOCKS.png" id="292" name="Google Shape;292;p13"/>
          <p:cNvPicPr preferRelativeResize="0"/>
          <p:nvPr/>
        </p:nvPicPr>
        <p:blipFill rotWithShape="1">
          <a:blip r:embed="rId3">
            <a:alphaModFix/>
          </a:blip>
          <a:srcRect b="0" l="0" r="0" t="0"/>
          <a:stretch/>
        </p:blipFill>
        <p:spPr>
          <a:xfrm>
            <a:off x="365760" y="731521"/>
            <a:ext cx="1979875" cy="996604"/>
          </a:xfrm>
          <a:prstGeom prst="rect">
            <a:avLst/>
          </a:prstGeom>
          <a:noFill/>
          <a:ln>
            <a:noFill/>
          </a:ln>
        </p:spPr>
      </p:pic>
      <p:sp>
        <p:nvSpPr>
          <p:cNvPr id="293" name="Google Shape;293;p13"/>
          <p:cNvSpPr txBox="1"/>
          <p:nvPr/>
        </p:nvSpPr>
        <p:spPr>
          <a:xfrm>
            <a:off x="3452458" y="1590636"/>
            <a:ext cx="97536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chemeClr val="dk1"/>
                </a:solidFill>
                <a:latin typeface="Calibri"/>
                <a:ea typeface="Calibri"/>
                <a:cs typeface="Calibri"/>
                <a:sym typeface="Calibri"/>
              </a:rPr>
              <a:t>76 </a:t>
            </a:r>
            <a:endParaRPr b="1" sz="4400">
              <a:solidFill>
                <a:schemeClr val="dk1"/>
              </a:solidFill>
              <a:latin typeface="Calibri"/>
              <a:ea typeface="Calibri"/>
              <a:cs typeface="Calibri"/>
              <a:sym typeface="Calibri"/>
            </a:endParaRPr>
          </a:p>
        </p:txBody>
      </p:sp>
      <p:sp>
        <p:nvSpPr>
          <p:cNvPr id="294" name="Google Shape;294;p13"/>
          <p:cNvSpPr txBox="1"/>
          <p:nvPr/>
        </p:nvSpPr>
        <p:spPr>
          <a:xfrm>
            <a:off x="3003970" y="2155386"/>
            <a:ext cx="1382468"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chemeClr val="dk1"/>
                </a:solidFill>
                <a:latin typeface="Calibri"/>
                <a:ea typeface="Calibri"/>
                <a:cs typeface="Calibri"/>
                <a:sym typeface="Calibri"/>
              </a:rPr>
              <a:t>+</a:t>
            </a:r>
            <a:r>
              <a:rPr b="1" lang="en-GB" sz="1600">
                <a:solidFill>
                  <a:schemeClr val="dk1"/>
                </a:solidFill>
                <a:latin typeface="Calibri"/>
                <a:ea typeface="Calibri"/>
                <a:cs typeface="Calibri"/>
                <a:sym typeface="Calibri"/>
              </a:rPr>
              <a:t> </a:t>
            </a:r>
            <a:r>
              <a:rPr b="1" lang="en-GB" sz="4400">
                <a:solidFill>
                  <a:schemeClr val="dk1"/>
                </a:solidFill>
                <a:latin typeface="Calibri"/>
                <a:ea typeface="Calibri"/>
                <a:cs typeface="Calibri"/>
                <a:sym typeface="Calibri"/>
              </a:rPr>
              <a:t>22 </a:t>
            </a:r>
            <a:endParaRPr b="1" sz="4400">
              <a:solidFill>
                <a:schemeClr val="dk1"/>
              </a:solidFill>
              <a:latin typeface="Calibri"/>
              <a:ea typeface="Calibri"/>
              <a:cs typeface="Calibri"/>
              <a:sym typeface="Calibri"/>
            </a:endParaRPr>
          </a:p>
        </p:txBody>
      </p:sp>
      <p:cxnSp>
        <p:nvCxnSpPr>
          <p:cNvPr id="295" name="Google Shape;295;p13"/>
          <p:cNvCxnSpPr/>
          <p:nvPr/>
        </p:nvCxnSpPr>
        <p:spPr>
          <a:xfrm>
            <a:off x="3106001" y="2873093"/>
            <a:ext cx="109889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296" name="Google Shape;296;p13"/>
          <p:cNvSpPr/>
          <p:nvPr/>
        </p:nvSpPr>
        <p:spPr>
          <a:xfrm>
            <a:off x="3366600" y="2976560"/>
            <a:ext cx="816148" cy="571500"/>
          </a:xfrm>
          <a:prstGeom prst="rect">
            <a:avLst/>
          </a:prstGeom>
          <a:solidFill>
            <a:srgbClr val="D8D8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4800">
                <a:solidFill>
                  <a:schemeClr val="lt1"/>
                </a:solidFill>
                <a:latin typeface="Calibri"/>
                <a:ea typeface="Calibri"/>
                <a:cs typeface="Calibri"/>
                <a:sym typeface="Calibri"/>
              </a:rPr>
              <a:t>?</a:t>
            </a:r>
            <a:endParaRPr b="1" sz="4800">
              <a:solidFill>
                <a:schemeClr val="lt1"/>
              </a:solidFill>
              <a:latin typeface="Calibri"/>
              <a:ea typeface="Calibri"/>
              <a:cs typeface="Calibri"/>
              <a:sym typeface="Calibri"/>
            </a:endParaRPr>
          </a:p>
        </p:txBody>
      </p:sp>
      <p:sp>
        <p:nvSpPr>
          <p:cNvPr id="297" name="Google Shape;297;p13"/>
          <p:cNvSpPr txBox="1"/>
          <p:nvPr/>
        </p:nvSpPr>
        <p:spPr>
          <a:xfrm>
            <a:off x="8108227" y="311340"/>
            <a:ext cx="4000195" cy="58169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Replace the entire slide content with the following:</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Instruction:</a:t>
            </a:r>
            <a:r>
              <a:rPr lang="en-GB" sz="1400">
                <a:solidFill>
                  <a:schemeClr val="dk1"/>
                </a:solidFill>
                <a:latin typeface="Calibri"/>
                <a:ea typeface="Calibri"/>
                <a:cs typeface="Calibri"/>
                <a:sym typeface="Calibri"/>
              </a:rPr>
              <a:t> संख्याएँ जोड़िए और सही जोड़ टाइप करिए।</a:t>
            </a:r>
            <a:br>
              <a:rPr lang="en-GB" sz="1400">
                <a:solidFill>
                  <a:schemeClr val="dk1"/>
                </a:solidFill>
                <a:latin typeface="Calibri"/>
                <a:ea typeface="Calibri"/>
                <a:cs typeface="Calibri"/>
                <a:sym typeface="Calibri"/>
              </a:rPr>
            </a:br>
            <a:r>
              <a:rPr b="1" lang="en-GB" sz="1400">
                <a:solidFill>
                  <a:schemeClr val="dk1"/>
                </a:solidFill>
                <a:latin typeface="Calibri"/>
                <a:ea typeface="Calibri"/>
                <a:cs typeface="Calibri"/>
                <a:sym typeface="Calibri"/>
              </a:rPr>
              <a:t>Equation:</a:t>
            </a:r>
            <a:r>
              <a:rPr lang="en-GB" sz="1400">
                <a:solidFill>
                  <a:schemeClr val="dk1"/>
                </a:solidFill>
                <a:latin typeface="Calibri"/>
                <a:ea typeface="Calibri"/>
                <a:cs typeface="Calibri"/>
                <a:sym typeface="Calibri"/>
              </a:rPr>
              <a:t> </a:t>
            </a:r>
            <a:r>
              <a:rPr b="1" lang="en-GB" sz="1400">
                <a:solidFill>
                  <a:schemeClr val="dk1"/>
                </a:solidFill>
                <a:latin typeface="Calibri"/>
                <a:ea typeface="Calibri"/>
                <a:cs typeface="Calibri"/>
                <a:sym typeface="Calibri"/>
              </a:rPr>
              <a:t>76 + 22 =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VO:</a:t>
            </a:r>
            <a:r>
              <a:rPr lang="en-GB" sz="1400">
                <a:solidFill>
                  <a:schemeClr val="dk1"/>
                </a:solidFill>
                <a:latin typeface="Calibri"/>
                <a:ea typeface="Calibri"/>
                <a:cs typeface="Calibri"/>
                <a:sym typeface="Calibri"/>
              </a:rPr>
              <a:t> 76 और 22 को जोड़िए और सही जोड़ टाइप करिए।</a:t>
            </a:r>
            <a:br>
              <a:rPr lang="en-GB" sz="1400">
                <a:solidFill>
                  <a:schemeClr val="dk1"/>
                </a:solidFill>
                <a:latin typeface="Calibri"/>
                <a:ea typeface="Calibri"/>
                <a:cs typeface="Calibri"/>
                <a:sym typeface="Calibri"/>
              </a:rPr>
            </a:br>
            <a:r>
              <a:rPr i="1" lang="en-GB" sz="1400">
                <a:solidFill>
                  <a:schemeClr val="dk1"/>
                </a:solidFill>
                <a:latin typeface="Calibri"/>
                <a:ea typeface="Calibri"/>
                <a:cs typeface="Calibri"/>
                <a:sym typeface="Calibri"/>
              </a:rPr>
              <a:t>[If there is any inactivity for 7 seconds, hand nudge will appear on the box to tap.]</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VO: सही जोड़ टाइप करिए।</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Correct answer:</a:t>
            </a:r>
            <a:r>
              <a:rPr lang="en-GB" sz="1400">
                <a:solidFill>
                  <a:schemeClr val="dk1"/>
                </a:solidFill>
                <a:latin typeface="Calibri"/>
                <a:ea typeface="Calibri"/>
                <a:cs typeface="Calibri"/>
                <a:sym typeface="Calibri"/>
              </a:rPr>
              <a:t> शाबाश! 76 और 22 का जोड़ 98 है। </a:t>
            </a:r>
            <a:br>
              <a:rPr lang="en-GB" sz="1400">
                <a:solidFill>
                  <a:schemeClr val="dk1"/>
                </a:solidFill>
                <a:latin typeface="Calibri"/>
                <a:ea typeface="Calibri"/>
                <a:cs typeface="Calibri"/>
                <a:sym typeface="Calibri"/>
              </a:rPr>
            </a:b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Feedback/Hint</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WA1:</a:t>
            </a:r>
            <a:r>
              <a:rPr lang="en-GB" sz="1400">
                <a:solidFill>
                  <a:schemeClr val="dk1"/>
                </a:solidFill>
                <a:latin typeface="Calibri"/>
                <a:ea typeface="Calibri"/>
                <a:cs typeface="Calibri"/>
                <a:sym typeface="Calibri"/>
              </a:rPr>
              <a:t> Wiggle + VO: </a:t>
            </a:r>
            <a:r>
              <a:rPr b="1" lang="en-GB" sz="1400">
                <a:solidFill>
                  <a:schemeClr val="dk1"/>
                </a:solidFill>
                <a:latin typeface="Calibri"/>
                <a:ea typeface="Calibri"/>
                <a:cs typeface="Calibri"/>
                <a:sym typeface="Calibri"/>
              </a:rPr>
              <a:t>ध्यान से देखिए— 6 इकाई और 2 इकाई; 7 दहाई और 2  दहाई। अब सही जोड़ टाइप करिए ।</a:t>
            </a:r>
            <a:br>
              <a:rPr lang="en-GB" sz="1400">
                <a:solidFill>
                  <a:schemeClr val="dk1"/>
                </a:solidFill>
                <a:latin typeface="Calibri"/>
                <a:ea typeface="Calibri"/>
                <a:cs typeface="Calibri"/>
                <a:sym typeface="Calibri"/>
              </a:rPr>
            </a:br>
            <a:r>
              <a:rPr i="1" lang="en-GB" sz="1400">
                <a:solidFill>
                  <a:schemeClr val="dk1"/>
                </a:solidFill>
                <a:latin typeface="Calibri"/>
                <a:ea typeface="Calibri"/>
                <a:cs typeface="Calibri"/>
                <a:sym typeface="Calibri"/>
              </a:rPr>
              <a:t>[Highlight the respective Ones and Tens digits in sync with the VO.]</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WA2:</a:t>
            </a:r>
            <a:r>
              <a:rPr lang="en-GB" sz="1400">
                <a:solidFill>
                  <a:schemeClr val="dk1"/>
                </a:solidFill>
                <a:latin typeface="Calibri"/>
                <a:ea typeface="Calibri"/>
                <a:cs typeface="Calibri"/>
                <a:sym typeface="Calibri"/>
              </a:rPr>
              <a:t> Wiggle + show </a:t>
            </a:r>
            <a:r>
              <a:rPr b="1" lang="en-GB" sz="1400">
                <a:solidFill>
                  <a:schemeClr val="dk1"/>
                </a:solidFill>
                <a:latin typeface="Calibri"/>
                <a:ea typeface="Calibri"/>
                <a:cs typeface="Calibri"/>
                <a:sym typeface="Calibri"/>
              </a:rPr>
              <a:t>76 </a:t>
            </a:r>
            <a:r>
              <a:rPr lang="en-GB" sz="1400">
                <a:solidFill>
                  <a:schemeClr val="dk1"/>
                </a:solidFill>
                <a:latin typeface="Calibri"/>
                <a:ea typeface="Calibri"/>
                <a:cs typeface="Calibri"/>
                <a:sym typeface="Calibri"/>
              </a:rPr>
              <a:t> and </a:t>
            </a:r>
            <a:r>
              <a:rPr b="1" lang="en-GB" sz="1400">
                <a:solidFill>
                  <a:schemeClr val="dk1"/>
                </a:solidFill>
                <a:latin typeface="Calibri"/>
                <a:ea typeface="Calibri"/>
                <a:cs typeface="Calibri"/>
                <a:sym typeface="Calibri"/>
              </a:rPr>
              <a:t>22 </a:t>
            </a:r>
            <a:r>
              <a:rPr lang="en-GB" sz="1400">
                <a:solidFill>
                  <a:schemeClr val="dk1"/>
                </a:solidFill>
                <a:latin typeface="Calibri"/>
                <a:ea typeface="Calibri"/>
                <a:cs typeface="Calibri"/>
                <a:sym typeface="Calibri"/>
              </a:rPr>
              <a:t> using blocks on separate tables + VO: </a:t>
            </a:r>
            <a:r>
              <a:rPr b="1" lang="en-GB" sz="1400">
                <a:solidFill>
                  <a:schemeClr val="dk1"/>
                </a:solidFill>
                <a:latin typeface="Calibri"/>
                <a:ea typeface="Calibri"/>
                <a:cs typeface="Calibri"/>
                <a:sym typeface="Calibri"/>
              </a:rPr>
              <a:t>ब्लॉक्स को गिनिए और सही जोड़ टाइप करिए। </a:t>
            </a:r>
            <a:endParaRPr b="1" sz="14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WA3:</a:t>
            </a:r>
            <a:r>
              <a:rPr lang="en-GB" sz="1400">
                <a:solidFill>
                  <a:schemeClr val="dk1"/>
                </a:solidFill>
                <a:latin typeface="Calibri"/>
                <a:ea typeface="Calibri"/>
                <a:cs typeface="Calibri"/>
                <a:sym typeface="Calibri"/>
              </a:rPr>
              <a:t> Wiggle + highlight the correct digit buttons in sequence. As the child taps them, enter the digits in the answer counter. </a:t>
            </a:r>
            <a:endParaRPr sz="1000">
              <a:solidFill>
                <a:schemeClr val="dk1"/>
              </a:solidFill>
              <a:latin typeface="Calibri"/>
              <a:ea typeface="Calibri"/>
              <a:cs typeface="Calibri"/>
              <a:sym typeface="Calibri"/>
            </a:endParaRPr>
          </a:p>
        </p:txBody>
      </p:sp>
      <p:graphicFrame>
        <p:nvGraphicFramePr>
          <p:cNvPr id="298" name="Google Shape;298;p13"/>
          <p:cNvGraphicFramePr/>
          <p:nvPr/>
        </p:nvGraphicFramePr>
        <p:xfrm>
          <a:off x="3229856" y="3626515"/>
          <a:ext cx="3000000" cy="3000000"/>
        </p:xfrm>
        <a:graphic>
          <a:graphicData uri="http://schemas.openxmlformats.org/drawingml/2006/table">
            <a:tbl>
              <a:tblPr bandRow="1" firstRow="1">
                <a:noFill/>
                <a:tableStyleId>{B7EF8B4E-DD57-460E-B4C0-94002C50337D}</a:tableStyleId>
              </a:tblPr>
              <a:tblGrid>
                <a:gridCol w="544825"/>
                <a:gridCol w="544825"/>
              </a:tblGrid>
              <a:tr h="601225">
                <a:tc>
                  <a:txBody>
                    <a:bodyPr/>
                    <a:lstStyle/>
                    <a:p>
                      <a:pPr indent="0" lvl="0" marL="0" marR="0" rtl="0" algn="ctr">
                        <a:spcBef>
                          <a:spcPts val="0"/>
                        </a:spcBef>
                        <a:spcAft>
                          <a:spcPts val="0"/>
                        </a:spcAft>
                        <a:buNone/>
                      </a:pPr>
                      <a:r>
                        <a:rPr lang="en-GB" sz="3200" u="none" cap="none" strike="noStrike"/>
                        <a:t>8</a:t>
                      </a:r>
                      <a:endParaRPr sz="3200" u="none" cap="none" strike="noStrike"/>
                    </a:p>
                  </a:txBody>
                  <a:tcPr marT="45725" marB="45725" marR="91450" marL="91450" anchor="ctr"/>
                </a:tc>
                <a:tc>
                  <a:txBody>
                    <a:bodyPr/>
                    <a:lstStyle/>
                    <a:p>
                      <a:pPr indent="0" lvl="0" marL="0" marR="0" rtl="0" algn="ctr">
                        <a:spcBef>
                          <a:spcPts val="0"/>
                        </a:spcBef>
                        <a:spcAft>
                          <a:spcPts val="0"/>
                        </a:spcAft>
                        <a:buNone/>
                      </a:pPr>
                      <a:r>
                        <a:rPr lang="en-GB" sz="3200" u="none" cap="none" strike="noStrike"/>
                        <a:t>1</a:t>
                      </a:r>
                      <a:endParaRPr sz="3200" u="none" cap="none" strike="noStrike"/>
                    </a:p>
                  </a:txBody>
                  <a:tcPr marT="45725" marB="45725" marR="91450" marL="91450" anchor="ctr"/>
                </a:tc>
              </a:tr>
            </a:tbl>
          </a:graphicData>
        </a:graphic>
      </p:graphicFrame>
      <p:graphicFrame>
        <p:nvGraphicFramePr>
          <p:cNvPr id="299" name="Google Shape;299;p13"/>
          <p:cNvGraphicFramePr/>
          <p:nvPr/>
        </p:nvGraphicFramePr>
        <p:xfrm>
          <a:off x="5124224" y="1653603"/>
          <a:ext cx="3000000" cy="3000000"/>
        </p:xfrm>
        <a:graphic>
          <a:graphicData uri="http://schemas.openxmlformats.org/drawingml/2006/table">
            <a:tbl>
              <a:tblPr bandRow="1" firstRow="1">
                <a:noFill/>
                <a:tableStyleId>{B7EF8B4E-DD57-460E-B4C0-94002C50337D}</a:tableStyleId>
              </a:tblPr>
              <a:tblGrid>
                <a:gridCol w="544825"/>
                <a:gridCol w="544825"/>
              </a:tblGrid>
              <a:tr h="601225">
                <a:tc>
                  <a:txBody>
                    <a:bodyPr/>
                    <a:lstStyle/>
                    <a:p>
                      <a:pPr indent="0" lvl="0" marL="0" marR="0" rtl="0" algn="ctr">
                        <a:spcBef>
                          <a:spcPts val="0"/>
                        </a:spcBef>
                        <a:spcAft>
                          <a:spcPts val="0"/>
                        </a:spcAft>
                        <a:buNone/>
                      </a:pPr>
                      <a:r>
                        <a:rPr lang="en-GB" sz="3200" u="none" cap="none" strike="noStrike"/>
                        <a:t>8</a:t>
                      </a:r>
                      <a:endParaRPr sz="3200" u="none" cap="none" strike="noStrike"/>
                    </a:p>
                  </a:txBody>
                  <a:tcPr marT="45725" marB="45725" marR="91450" marL="91450" anchor="ctr"/>
                </a:tc>
                <a:tc>
                  <a:txBody>
                    <a:bodyPr/>
                    <a:lstStyle/>
                    <a:p>
                      <a:pPr indent="0" lvl="0" marL="0" marR="0" rtl="0" algn="ctr">
                        <a:spcBef>
                          <a:spcPts val="0"/>
                        </a:spcBef>
                        <a:spcAft>
                          <a:spcPts val="0"/>
                        </a:spcAft>
                        <a:buNone/>
                      </a:pPr>
                      <a:r>
                        <a:rPr lang="en-GB" sz="3200" u="none" cap="none" strike="noStrike"/>
                        <a:t>1</a:t>
                      </a:r>
                      <a:endParaRPr sz="3200" u="none" cap="none" strike="noStrike"/>
                    </a:p>
                  </a:txBody>
                  <a:tcPr marT="45725" marB="45725" marR="91450" marL="91450" anchor="ctr"/>
                </a:tc>
              </a:tr>
            </a:tbl>
          </a:graphicData>
        </a:graphic>
      </p:graphicFrame>
      <p:graphicFrame>
        <p:nvGraphicFramePr>
          <p:cNvPr id="300" name="Google Shape;300;p13"/>
          <p:cNvGraphicFramePr/>
          <p:nvPr/>
        </p:nvGraphicFramePr>
        <p:xfrm>
          <a:off x="5146505" y="2432934"/>
          <a:ext cx="3000000" cy="3000000"/>
        </p:xfrm>
        <a:graphic>
          <a:graphicData uri="http://schemas.openxmlformats.org/drawingml/2006/table">
            <a:tbl>
              <a:tblPr bandRow="1" firstRow="1">
                <a:noFill/>
                <a:tableStyleId>{B7EF8B4E-DD57-460E-B4C0-94002C50337D}</a:tableStyleId>
              </a:tblPr>
              <a:tblGrid>
                <a:gridCol w="544825"/>
                <a:gridCol w="544825"/>
              </a:tblGrid>
              <a:tr h="601225">
                <a:tc>
                  <a:txBody>
                    <a:bodyPr/>
                    <a:lstStyle/>
                    <a:p>
                      <a:pPr indent="0" lvl="0" marL="0" marR="0" rtl="0" algn="ctr">
                        <a:spcBef>
                          <a:spcPts val="0"/>
                        </a:spcBef>
                        <a:spcAft>
                          <a:spcPts val="0"/>
                        </a:spcAft>
                        <a:buNone/>
                      </a:pPr>
                      <a:r>
                        <a:rPr lang="en-GB" sz="3200" u="none" cap="none" strike="noStrike"/>
                        <a:t>8</a:t>
                      </a:r>
                      <a:endParaRPr sz="3200" u="none" cap="none" strike="noStrike"/>
                    </a:p>
                  </a:txBody>
                  <a:tcPr marT="45725" marB="45725" marR="91450" marL="91450" anchor="ctr"/>
                </a:tc>
                <a:tc>
                  <a:txBody>
                    <a:bodyPr/>
                    <a:lstStyle/>
                    <a:p>
                      <a:pPr indent="0" lvl="0" marL="0" marR="0" rtl="0" algn="ctr">
                        <a:spcBef>
                          <a:spcPts val="0"/>
                        </a:spcBef>
                        <a:spcAft>
                          <a:spcPts val="0"/>
                        </a:spcAft>
                        <a:buNone/>
                      </a:pPr>
                      <a:r>
                        <a:rPr lang="en-GB" sz="3200" u="none" cap="none" strike="noStrike"/>
                        <a:t>1</a:t>
                      </a:r>
                      <a:endParaRPr sz="3200" u="none" cap="none" strike="noStrike"/>
                    </a:p>
                  </a:txBody>
                  <a:tcPr marT="45725" marB="45725" marR="91450" marL="91450" anchor="ctr"/>
                </a:tc>
              </a:tr>
            </a:tbl>
          </a:graphicData>
        </a:graphic>
      </p:graphicFrame>
      <p:graphicFrame>
        <p:nvGraphicFramePr>
          <p:cNvPr id="301" name="Google Shape;301;p13"/>
          <p:cNvGraphicFramePr/>
          <p:nvPr/>
        </p:nvGraphicFramePr>
        <p:xfrm>
          <a:off x="5191271" y="3400737"/>
          <a:ext cx="3000000" cy="3000000"/>
        </p:xfrm>
        <a:graphic>
          <a:graphicData uri="http://schemas.openxmlformats.org/drawingml/2006/table">
            <a:tbl>
              <a:tblPr bandRow="1" firstRow="1">
                <a:noFill/>
                <a:tableStyleId>{B7EF8B4E-DD57-460E-B4C0-94002C50337D}</a:tableStyleId>
              </a:tblPr>
              <a:tblGrid>
                <a:gridCol w="544825"/>
                <a:gridCol w="544825"/>
              </a:tblGrid>
              <a:tr h="601225">
                <a:tc>
                  <a:txBody>
                    <a:bodyPr/>
                    <a:lstStyle/>
                    <a:p>
                      <a:pPr indent="0" lvl="0" marL="0" marR="0" rtl="0" algn="ctr">
                        <a:spcBef>
                          <a:spcPts val="0"/>
                        </a:spcBef>
                        <a:spcAft>
                          <a:spcPts val="0"/>
                        </a:spcAft>
                        <a:buNone/>
                      </a:pPr>
                      <a:r>
                        <a:rPr lang="en-GB" sz="3200" u="none" cap="none" strike="noStrike"/>
                        <a:t>8</a:t>
                      </a:r>
                      <a:endParaRPr sz="3200" u="none" cap="none" strike="noStrike"/>
                    </a:p>
                  </a:txBody>
                  <a:tcPr marT="45725" marB="45725" marR="91450" marL="91450" anchor="ctr"/>
                </a:tc>
                <a:tc>
                  <a:txBody>
                    <a:bodyPr/>
                    <a:lstStyle/>
                    <a:p>
                      <a:pPr indent="0" lvl="0" marL="0" marR="0" rtl="0" algn="ctr">
                        <a:spcBef>
                          <a:spcPts val="0"/>
                        </a:spcBef>
                        <a:spcAft>
                          <a:spcPts val="0"/>
                        </a:spcAft>
                        <a:buNone/>
                      </a:pPr>
                      <a:r>
                        <a:rPr lang="en-GB" sz="3200" u="none" cap="none" strike="noStrike"/>
                        <a:t>1</a:t>
                      </a:r>
                      <a:endParaRPr sz="3200" u="none" cap="none" strike="noStrike"/>
                    </a:p>
                  </a:txBody>
                  <a:tcPr marT="45725" marB="45725" marR="91450" marL="91450" anchor="ct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500"/>
                                        <p:tgtEl>
                                          <p:spTgt spid="2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5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14"/>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11 · 11_P3_PV_COLUMN.png</a:t>
            </a:r>
            <a:endParaRPr/>
          </a:p>
        </p:txBody>
      </p:sp>
      <p:pic>
        <p:nvPicPr>
          <p:cNvPr descr="11_P3_PV_COLUMN.png" id="307" name="Google Shape;307;p14"/>
          <p:cNvPicPr preferRelativeResize="0"/>
          <p:nvPr/>
        </p:nvPicPr>
        <p:blipFill rotWithShape="1">
          <a:blip r:embed="rId3">
            <a:alphaModFix/>
          </a:blip>
          <a:srcRect b="0" l="0" r="0" t="0"/>
          <a:stretch/>
        </p:blipFill>
        <p:spPr>
          <a:xfrm>
            <a:off x="365760" y="731520"/>
            <a:ext cx="1895550" cy="954157"/>
          </a:xfrm>
          <a:prstGeom prst="rect">
            <a:avLst/>
          </a:prstGeom>
          <a:noFill/>
          <a:ln>
            <a:noFill/>
          </a:ln>
        </p:spPr>
      </p:pic>
      <p:sp>
        <p:nvSpPr>
          <p:cNvPr id="308" name="Google Shape;308;p14"/>
          <p:cNvSpPr txBox="1"/>
          <p:nvPr/>
        </p:nvSpPr>
        <p:spPr>
          <a:xfrm>
            <a:off x="3452458" y="1590636"/>
            <a:ext cx="975360"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chemeClr val="dk1"/>
                </a:solidFill>
                <a:latin typeface="Calibri"/>
                <a:ea typeface="Calibri"/>
                <a:cs typeface="Calibri"/>
                <a:sym typeface="Calibri"/>
              </a:rPr>
              <a:t>37 </a:t>
            </a:r>
            <a:endParaRPr b="1" sz="4400">
              <a:solidFill>
                <a:schemeClr val="dk1"/>
              </a:solidFill>
              <a:latin typeface="Calibri"/>
              <a:ea typeface="Calibri"/>
              <a:cs typeface="Calibri"/>
              <a:sym typeface="Calibri"/>
            </a:endParaRPr>
          </a:p>
        </p:txBody>
      </p:sp>
      <p:sp>
        <p:nvSpPr>
          <p:cNvPr id="309" name="Google Shape;309;p14"/>
          <p:cNvSpPr txBox="1"/>
          <p:nvPr/>
        </p:nvSpPr>
        <p:spPr>
          <a:xfrm>
            <a:off x="3003970" y="2155386"/>
            <a:ext cx="1382468" cy="76944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4400">
                <a:solidFill>
                  <a:schemeClr val="dk1"/>
                </a:solidFill>
                <a:latin typeface="Calibri"/>
                <a:ea typeface="Calibri"/>
                <a:cs typeface="Calibri"/>
                <a:sym typeface="Calibri"/>
              </a:rPr>
              <a:t>+</a:t>
            </a:r>
            <a:r>
              <a:rPr b="1" lang="en-GB" sz="1600">
                <a:solidFill>
                  <a:schemeClr val="dk1"/>
                </a:solidFill>
                <a:latin typeface="Calibri"/>
                <a:ea typeface="Calibri"/>
                <a:cs typeface="Calibri"/>
                <a:sym typeface="Calibri"/>
              </a:rPr>
              <a:t> </a:t>
            </a:r>
            <a:r>
              <a:rPr b="1" lang="en-GB" sz="4400">
                <a:solidFill>
                  <a:schemeClr val="dk1"/>
                </a:solidFill>
                <a:latin typeface="Calibri"/>
                <a:ea typeface="Calibri"/>
                <a:cs typeface="Calibri"/>
                <a:sym typeface="Calibri"/>
              </a:rPr>
              <a:t>60 </a:t>
            </a:r>
            <a:endParaRPr b="1" sz="4400">
              <a:solidFill>
                <a:schemeClr val="dk1"/>
              </a:solidFill>
              <a:latin typeface="Calibri"/>
              <a:ea typeface="Calibri"/>
              <a:cs typeface="Calibri"/>
              <a:sym typeface="Calibri"/>
            </a:endParaRPr>
          </a:p>
        </p:txBody>
      </p:sp>
      <p:cxnSp>
        <p:nvCxnSpPr>
          <p:cNvPr id="310" name="Google Shape;310;p14"/>
          <p:cNvCxnSpPr/>
          <p:nvPr/>
        </p:nvCxnSpPr>
        <p:spPr>
          <a:xfrm>
            <a:off x="3106001" y="2873093"/>
            <a:ext cx="1098896" cy="0"/>
          </a:xfrm>
          <a:prstGeom prst="straightConnector1">
            <a:avLst/>
          </a:prstGeom>
          <a:noFill/>
          <a:ln cap="flat" cmpd="sng" w="25400">
            <a:solidFill>
              <a:schemeClr val="accent1"/>
            </a:solidFill>
            <a:prstDash val="solid"/>
            <a:round/>
            <a:headEnd len="sm" w="sm" type="none"/>
            <a:tailEnd len="sm" w="sm" type="none"/>
          </a:ln>
          <a:effectLst>
            <a:outerShdw blurRad="40000" rotWithShape="0" dir="5400000" dist="20000">
              <a:srgbClr val="000000">
                <a:alpha val="38039"/>
              </a:srgbClr>
            </a:outerShdw>
          </a:effectLst>
        </p:spPr>
      </p:cxnSp>
      <p:sp>
        <p:nvSpPr>
          <p:cNvPr id="311" name="Google Shape;311;p14"/>
          <p:cNvSpPr/>
          <p:nvPr/>
        </p:nvSpPr>
        <p:spPr>
          <a:xfrm>
            <a:off x="3366600" y="2976560"/>
            <a:ext cx="816148" cy="571500"/>
          </a:xfrm>
          <a:prstGeom prst="rect">
            <a:avLst/>
          </a:prstGeom>
          <a:solidFill>
            <a:srgbClr val="D8D8D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rPr b="1" lang="en-GB" sz="4800">
                <a:solidFill>
                  <a:schemeClr val="lt1"/>
                </a:solidFill>
                <a:latin typeface="Calibri"/>
                <a:ea typeface="Calibri"/>
                <a:cs typeface="Calibri"/>
                <a:sym typeface="Calibri"/>
              </a:rPr>
              <a:t>?</a:t>
            </a:r>
            <a:endParaRPr b="1" sz="4800">
              <a:solidFill>
                <a:schemeClr val="lt1"/>
              </a:solidFill>
              <a:latin typeface="Calibri"/>
              <a:ea typeface="Calibri"/>
              <a:cs typeface="Calibri"/>
              <a:sym typeface="Calibri"/>
            </a:endParaRPr>
          </a:p>
        </p:txBody>
      </p:sp>
      <p:sp>
        <p:nvSpPr>
          <p:cNvPr id="312" name="Google Shape;312;p14"/>
          <p:cNvSpPr txBox="1"/>
          <p:nvPr/>
        </p:nvSpPr>
        <p:spPr>
          <a:xfrm>
            <a:off x="8108227" y="311340"/>
            <a:ext cx="4000195" cy="58169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Replace the entire slide content with the following:</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Instruction:</a:t>
            </a:r>
            <a:r>
              <a:rPr lang="en-GB" sz="1400">
                <a:solidFill>
                  <a:schemeClr val="dk1"/>
                </a:solidFill>
                <a:latin typeface="Calibri"/>
                <a:ea typeface="Calibri"/>
                <a:cs typeface="Calibri"/>
                <a:sym typeface="Calibri"/>
              </a:rPr>
              <a:t> संख्याएँ जोड़िए और सही जोड़ टाइप करिए।</a:t>
            </a:r>
            <a:br>
              <a:rPr lang="en-GB" sz="1400">
                <a:solidFill>
                  <a:schemeClr val="dk1"/>
                </a:solidFill>
                <a:latin typeface="Calibri"/>
                <a:ea typeface="Calibri"/>
                <a:cs typeface="Calibri"/>
                <a:sym typeface="Calibri"/>
              </a:rPr>
            </a:br>
            <a:r>
              <a:rPr b="1" lang="en-GB" sz="1400">
                <a:solidFill>
                  <a:schemeClr val="dk1"/>
                </a:solidFill>
                <a:latin typeface="Calibri"/>
                <a:ea typeface="Calibri"/>
                <a:cs typeface="Calibri"/>
                <a:sym typeface="Calibri"/>
              </a:rPr>
              <a:t>Equation:</a:t>
            </a:r>
            <a:r>
              <a:rPr lang="en-GB" sz="1400">
                <a:solidFill>
                  <a:schemeClr val="dk1"/>
                </a:solidFill>
                <a:latin typeface="Calibri"/>
                <a:ea typeface="Calibri"/>
                <a:cs typeface="Calibri"/>
                <a:sym typeface="Calibri"/>
              </a:rPr>
              <a:t> </a:t>
            </a:r>
            <a:r>
              <a:rPr b="1" lang="en-GB" sz="1400">
                <a:solidFill>
                  <a:schemeClr val="dk1"/>
                </a:solidFill>
                <a:latin typeface="Calibri"/>
                <a:ea typeface="Calibri"/>
                <a:cs typeface="Calibri"/>
                <a:sym typeface="Calibri"/>
              </a:rPr>
              <a:t>37 + 60 = ?</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VO:</a:t>
            </a:r>
            <a:r>
              <a:rPr lang="en-GB" sz="1400">
                <a:solidFill>
                  <a:schemeClr val="dk1"/>
                </a:solidFill>
                <a:latin typeface="Calibri"/>
                <a:ea typeface="Calibri"/>
                <a:cs typeface="Calibri"/>
                <a:sym typeface="Calibri"/>
              </a:rPr>
              <a:t> 37 और 60 को जोड़िए और सही जोड़ टाइप करिए।</a:t>
            </a:r>
            <a:br>
              <a:rPr lang="en-GB" sz="1400">
                <a:solidFill>
                  <a:schemeClr val="dk1"/>
                </a:solidFill>
                <a:latin typeface="Calibri"/>
                <a:ea typeface="Calibri"/>
                <a:cs typeface="Calibri"/>
                <a:sym typeface="Calibri"/>
              </a:rPr>
            </a:br>
            <a:r>
              <a:rPr i="1" lang="en-GB" sz="1400">
                <a:solidFill>
                  <a:schemeClr val="dk1"/>
                </a:solidFill>
                <a:latin typeface="Calibri"/>
                <a:ea typeface="Calibri"/>
                <a:cs typeface="Calibri"/>
                <a:sym typeface="Calibri"/>
              </a:rPr>
              <a:t>[If there is any inactivity for 7 seconds, hand nudge will appear on the box to tap.]</a:t>
            </a:r>
            <a:endParaRPr/>
          </a:p>
          <a:p>
            <a:pPr indent="0" lvl="0" marL="0" marR="0" rtl="0" algn="l">
              <a:spcBef>
                <a:spcPts val="0"/>
              </a:spcBef>
              <a:spcAft>
                <a:spcPts val="0"/>
              </a:spcAft>
              <a:buNone/>
            </a:pPr>
            <a:r>
              <a:rPr lang="en-GB" sz="1400">
                <a:solidFill>
                  <a:schemeClr val="dk1"/>
                </a:solidFill>
                <a:latin typeface="Calibri"/>
                <a:ea typeface="Calibri"/>
                <a:cs typeface="Calibri"/>
                <a:sym typeface="Calibri"/>
              </a:rPr>
              <a:t>VO: सही जोड़ टाइप करिए।</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Correct answer:</a:t>
            </a:r>
            <a:r>
              <a:rPr lang="en-GB" sz="1400">
                <a:solidFill>
                  <a:schemeClr val="dk1"/>
                </a:solidFill>
                <a:latin typeface="Calibri"/>
                <a:ea typeface="Calibri"/>
                <a:cs typeface="Calibri"/>
                <a:sym typeface="Calibri"/>
              </a:rPr>
              <a:t> शाबाश! 37 और 60 का जोड़ 97 है। </a:t>
            </a:r>
            <a:br>
              <a:rPr lang="en-GB" sz="1400">
                <a:solidFill>
                  <a:schemeClr val="dk1"/>
                </a:solidFill>
                <a:latin typeface="Calibri"/>
                <a:ea typeface="Calibri"/>
                <a:cs typeface="Calibri"/>
                <a:sym typeface="Calibri"/>
              </a:rPr>
            </a:br>
            <a:br>
              <a:rPr lang="en-GB" sz="1000">
                <a:solidFill>
                  <a:schemeClr val="dk1"/>
                </a:solidFill>
                <a:latin typeface="Calibri"/>
                <a:ea typeface="Calibri"/>
                <a:cs typeface="Calibri"/>
                <a:sym typeface="Calibri"/>
              </a:rPr>
            </a:b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Feedback/Hint</a:t>
            </a:r>
            <a:endParaRPr sz="10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WA1:</a:t>
            </a:r>
            <a:r>
              <a:rPr lang="en-GB" sz="1400">
                <a:solidFill>
                  <a:schemeClr val="dk1"/>
                </a:solidFill>
                <a:latin typeface="Calibri"/>
                <a:ea typeface="Calibri"/>
                <a:cs typeface="Calibri"/>
                <a:sym typeface="Calibri"/>
              </a:rPr>
              <a:t> Wiggle + VO: </a:t>
            </a:r>
            <a:r>
              <a:rPr b="1" lang="en-GB" sz="1400">
                <a:solidFill>
                  <a:schemeClr val="dk1"/>
                </a:solidFill>
                <a:latin typeface="Calibri"/>
                <a:ea typeface="Calibri"/>
                <a:cs typeface="Calibri"/>
                <a:sym typeface="Calibri"/>
              </a:rPr>
              <a:t>ध्यान से देखिए— 7 इकाई और 0 इकाई; 3 दहाई और 6 दहाई। अब सही जोड़ टाइप करिए।</a:t>
            </a:r>
            <a:br>
              <a:rPr lang="en-GB" sz="1400">
                <a:solidFill>
                  <a:schemeClr val="dk1"/>
                </a:solidFill>
                <a:latin typeface="Calibri"/>
                <a:ea typeface="Calibri"/>
                <a:cs typeface="Calibri"/>
                <a:sym typeface="Calibri"/>
              </a:rPr>
            </a:br>
            <a:r>
              <a:rPr i="1" lang="en-GB" sz="1400">
                <a:solidFill>
                  <a:schemeClr val="dk1"/>
                </a:solidFill>
                <a:latin typeface="Calibri"/>
                <a:ea typeface="Calibri"/>
                <a:cs typeface="Calibri"/>
                <a:sym typeface="Calibri"/>
              </a:rPr>
              <a:t>[Highlight the respective Ones and Tens digits in sync with the VO.]</a:t>
            </a:r>
            <a:endParaRPr sz="105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WA2:</a:t>
            </a:r>
            <a:r>
              <a:rPr lang="en-GB" sz="1400">
                <a:solidFill>
                  <a:schemeClr val="dk1"/>
                </a:solidFill>
                <a:latin typeface="Calibri"/>
                <a:ea typeface="Calibri"/>
                <a:cs typeface="Calibri"/>
                <a:sym typeface="Calibri"/>
              </a:rPr>
              <a:t> Wiggle + show </a:t>
            </a:r>
            <a:r>
              <a:rPr b="1" lang="en-GB" sz="1400">
                <a:solidFill>
                  <a:schemeClr val="dk1"/>
                </a:solidFill>
                <a:latin typeface="Calibri"/>
                <a:ea typeface="Calibri"/>
                <a:cs typeface="Calibri"/>
                <a:sym typeface="Calibri"/>
              </a:rPr>
              <a:t>37</a:t>
            </a:r>
            <a:r>
              <a:rPr lang="en-GB" sz="1400">
                <a:solidFill>
                  <a:schemeClr val="dk1"/>
                </a:solidFill>
                <a:latin typeface="Calibri"/>
                <a:ea typeface="Calibri"/>
                <a:cs typeface="Calibri"/>
                <a:sym typeface="Calibri"/>
              </a:rPr>
              <a:t> and </a:t>
            </a:r>
            <a:r>
              <a:rPr b="1" lang="en-GB" sz="1400">
                <a:solidFill>
                  <a:schemeClr val="dk1"/>
                </a:solidFill>
                <a:latin typeface="Calibri"/>
                <a:ea typeface="Calibri"/>
                <a:cs typeface="Calibri"/>
                <a:sym typeface="Calibri"/>
              </a:rPr>
              <a:t>60 </a:t>
            </a:r>
            <a:r>
              <a:rPr lang="en-GB" sz="1400">
                <a:solidFill>
                  <a:schemeClr val="dk1"/>
                </a:solidFill>
                <a:latin typeface="Calibri"/>
                <a:ea typeface="Calibri"/>
                <a:cs typeface="Calibri"/>
                <a:sym typeface="Calibri"/>
              </a:rPr>
              <a:t>using blocks on separate tables + VO: </a:t>
            </a:r>
            <a:r>
              <a:rPr b="1" lang="en-GB" sz="1400">
                <a:solidFill>
                  <a:schemeClr val="dk1"/>
                </a:solidFill>
                <a:latin typeface="Calibri"/>
                <a:ea typeface="Calibri"/>
                <a:cs typeface="Calibri"/>
                <a:sym typeface="Calibri"/>
              </a:rPr>
              <a:t>ब्लॉक्स को गिनिए और सही जोड़ टाइप करिए। </a:t>
            </a:r>
            <a:endParaRPr b="1" sz="14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400">
                <a:solidFill>
                  <a:schemeClr val="dk1"/>
                </a:solidFill>
                <a:latin typeface="Calibri"/>
                <a:ea typeface="Calibri"/>
                <a:cs typeface="Calibri"/>
                <a:sym typeface="Calibri"/>
              </a:rPr>
              <a:t>WA3:</a:t>
            </a:r>
            <a:r>
              <a:rPr lang="en-GB" sz="1400">
                <a:solidFill>
                  <a:schemeClr val="dk1"/>
                </a:solidFill>
                <a:latin typeface="Calibri"/>
                <a:ea typeface="Calibri"/>
                <a:cs typeface="Calibri"/>
                <a:sym typeface="Calibri"/>
              </a:rPr>
              <a:t> Wiggle + highlight the correct digit buttons in sequence. As the child taps them, enter the digits in the answer counter. </a:t>
            </a:r>
            <a:endParaRPr sz="1000">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9"/>
                                        </p:tgtEl>
                                        <p:attrNameLst>
                                          <p:attrName>style.visibility</p:attrName>
                                        </p:attrNameLst>
                                      </p:cBhvr>
                                      <p:to>
                                        <p:strVal val="visible"/>
                                      </p:to>
                                    </p:set>
                                  </p:childTnLst>
                                </p:cTn>
                              </p:par>
                              <p:par>
                                <p:cTn fill="hold" nodeType="with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500"/>
                                        <p:tgtEl>
                                          <p:spTgt spid="3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1"/>
                                        </p:tgtEl>
                                        <p:attrNameLst>
                                          <p:attrName>style.visibility</p:attrName>
                                        </p:attrNameLst>
                                      </p:cBhvr>
                                      <p:to>
                                        <p:strVal val="visible"/>
                                      </p:to>
                                    </p:set>
                                    <p:animEffect filter="fade" transition="in">
                                      <p:cBhvr>
                                        <p:cTn dur="500"/>
                                        <p:tgtEl>
                                          <p:spTgt spid="3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1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12 · 12_P4_PV_VBLOCKS.png</a:t>
            </a:r>
            <a:endParaRPr/>
          </a:p>
        </p:txBody>
      </p:sp>
      <p:pic>
        <p:nvPicPr>
          <p:cNvPr descr="12_P4_PV_VBLOCKS.png" id="318" name="Google Shape;318;p15"/>
          <p:cNvPicPr preferRelativeResize="0"/>
          <p:nvPr/>
        </p:nvPicPr>
        <p:blipFill rotWithShape="1">
          <a:blip r:embed="rId3">
            <a:alphaModFix/>
          </a:blip>
          <a:srcRect b="0" l="0" r="0" t="0"/>
          <a:stretch/>
        </p:blipFill>
        <p:spPr>
          <a:xfrm>
            <a:off x="365760" y="731520"/>
            <a:ext cx="7680960" cy="3866341"/>
          </a:xfrm>
          <a:prstGeom prst="rect">
            <a:avLst/>
          </a:prstGeom>
          <a:noFill/>
          <a:ln>
            <a:noFill/>
          </a:ln>
        </p:spPr>
      </p:pic>
      <p:sp>
        <p:nvSpPr>
          <p:cNvPr id="319" name="Google Shape;319;p15"/>
          <p:cNvSpPr txBox="1"/>
          <p:nvPr/>
        </p:nvSpPr>
        <p:spPr>
          <a:xfrm>
            <a:off x="8229600" y="731520"/>
            <a:ext cx="3596335"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GB" sz="1300">
                <a:solidFill>
                  <a:srgbClr val="1B2A44"/>
                </a:solidFill>
                <a:latin typeface="Calibri"/>
                <a:ea typeface="Calibri"/>
                <a:cs typeface="Calibri"/>
                <a:sym typeface="Calibri"/>
              </a:rPr>
              <a:t>• Delete</a:t>
            </a:r>
            <a:endParaRPr sz="1300">
              <a:solidFill>
                <a:srgbClr val="1B2A44"/>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6"/>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13 · 13_P5_PV_COLUMN.png</a:t>
            </a:r>
            <a:endParaRPr/>
          </a:p>
        </p:txBody>
      </p:sp>
      <p:pic>
        <p:nvPicPr>
          <p:cNvPr descr="13_P5_PV_COLUMN.png" id="325" name="Google Shape;325;p16"/>
          <p:cNvPicPr preferRelativeResize="0"/>
          <p:nvPr/>
        </p:nvPicPr>
        <p:blipFill rotWithShape="1">
          <a:blip r:embed="rId3">
            <a:alphaModFix/>
          </a:blip>
          <a:srcRect b="0" l="0" r="0" t="0"/>
          <a:stretch/>
        </p:blipFill>
        <p:spPr>
          <a:xfrm>
            <a:off x="365760" y="731520"/>
            <a:ext cx="7680960" cy="3866341"/>
          </a:xfrm>
          <a:prstGeom prst="rect">
            <a:avLst/>
          </a:prstGeom>
          <a:noFill/>
          <a:ln>
            <a:noFill/>
          </a:ln>
        </p:spPr>
      </p:pic>
      <p:sp>
        <p:nvSpPr>
          <p:cNvPr id="326" name="Google Shape;326;p16"/>
          <p:cNvSpPr txBox="1"/>
          <p:nvPr/>
        </p:nvSpPr>
        <p:spPr>
          <a:xfrm>
            <a:off x="8229600" y="731520"/>
            <a:ext cx="3596335" cy="53860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GB" sz="1300">
                <a:solidFill>
                  <a:srgbClr val="1B2A44"/>
                </a:solidFill>
                <a:latin typeface="Calibri"/>
                <a:ea typeface="Calibri"/>
                <a:cs typeface="Calibri"/>
                <a:sym typeface="Calibri"/>
              </a:rPr>
              <a:t>• Delete</a:t>
            </a:r>
            <a:endParaRPr sz="1300">
              <a:solidFill>
                <a:srgbClr val="1B2A44"/>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0" name="Shape 330"/>
        <p:cNvGrpSpPr/>
        <p:nvPr/>
      </p:nvGrpSpPr>
      <p:grpSpPr>
        <a:xfrm>
          <a:off x="0" y="0"/>
          <a:ext cx="0" cy="0"/>
          <a:chOff x="0" y="0"/>
          <a:chExt cx="0" cy="0"/>
        </a:xfrm>
      </p:grpSpPr>
      <p:pic>
        <p:nvPicPr>
          <p:cNvPr id="331" name="Google Shape;331;p17"/>
          <p:cNvPicPr preferRelativeResize="0"/>
          <p:nvPr/>
        </p:nvPicPr>
        <p:blipFill rotWithShape="1">
          <a:blip r:embed="rId3">
            <a:alphaModFix/>
          </a:blip>
          <a:srcRect b="0" l="0" r="0" t="0"/>
          <a:stretch/>
        </p:blipFill>
        <p:spPr>
          <a:xfrm>
            <a:off x="1043939" y="2041497"/>
            <a:ext cx="2797753" cy="1578133"/>
          </a:xfrm>
          <a:prstGeom prst="rect">
            <a:avLst/>
          </a:prstGeom>
          <a:noFill/>
          <a:ln>
            <a:noFill/>
          </a:ln>
        </p:spPr>
      </p:pic>
      <p:sp>
        <p:nvSpPr>
          <p:cNvPr id="332" name="Google Shape;332;p17"/>
          <p:cNvSpPr txBox="1"/>
          <p:nvPr/>
        </p:nvSpPr>
        <p:spPr>
          <a:xfrm>
            <a:off x="5890259" y="0"/>
            <a:ext cx="6078000" cy="132066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GB" sz="1200">
                <a:solidFill>
                  <a:schemeClr val="dk1"/>
                </a:solidFill>
                <a:latin typeface="Calibri"/>
                <a:ea typeface="Calibri"/>
                <a:cs typeface="Calibri"/>
                <a:sym typeface="Calibri"/>
              </a:rPr>
              <a:t># Game Script: Bibi &amp; Johny – ब्लॉक्स की एक्टिविटी</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VO1: “बीबी और जॉनी ब्लॉक्स से एक्टिविटी कर रहे हैं। बीबी को 25 और जॉनी को 12 ब्लॉक्स चाहिए। चलिए, उनकी मदद करें!”</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Bibi and Johny appear with their block requirements.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Child taps </a:t>
            </a:r>
            <a:r>
              <a:rPr b="1" lang="en-GB" sz="1200">
                <a:solidFill>
                  <a:schemeClr val="dk1"/>
                </a:solidFill>
                <a:latin typeface="Calibri"/>
                <a:ea typeface="Calibri"/>
                <a:cs typeface="Calibri"/>
                <a:sym typeface="Calibri"/>
              </a:rPr>
              <a:t>play button</a:t>
            </a:r>
            <a:r>
              <a:rPr lang="en-GB" sz="12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VO2: “पहले बीबी के लिए 2 दहाई और 5 इकाई बनाइए।”</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Bibi appears with the target 25.</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Child uses `+ / −` to create 2 tens rods and 5 ones cubes.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Child taps Check.</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VO3: “शाबाश! बीबी के 25 ब्लॉक्स तैयार हैं।”</a:t>
            </a:r>
            <a:endParaRPr/>
          </a:p>
          <a:p>
            <a:pPr indent="-171450" lvl="0" marL="171450" marR="0" rtl="0" algn="l">
              <a:spcBef>
                <a:spcPts val="0"/>
              </a:spcBef>
              <a:spcAft>
                <a:spcPts val="0"/>
              </a:spcAft>
              <a:buClr>
                <a:schemeClr val="dk1"/>
              </a:buClr>
              <a:buSzPts val="1200"/>
              <a:buFont typeface="Calibri"/>
              <a:buChar char="-"/>
            </a:pPr>
            <a:r>
              <a:rPr lang="en-GB" sz="1200">
                <a:solidFill>
                  <a:schemeClr val="dk1"/>
                </a:solidFill>
                <a:latin typeface="Calibri"/>
                <a:ea typeface="Calibri"/>
                <a:cs typeface="Calibri"/>
                <a:sym typeface="Calibri"/>
              </a:rPr>
              <a:t>Correct blocks highlight and then change screen to blank and replace Bibi to Johny.</a:t>
            </a:r>
            <a:endParaRPr/>
          </a:p>
          <a:p>
            <a:pPr indent="-95250" lvl="0" marL="171450" marR="0" rtl="0" algn="l">
              <a:spcBef>
                <a:spcPts val="0"/>
              </a:spcBef>
              <a:spcAft>
                <a:spcPts val="0"/>
              </a:spcAft>
              <a:buClr>
                <a:schemeClr val="dk1"/>
              </a:buClr>
              <a:buSzPts val="1200"/>
              <a:buFont typeface="Calibri"/>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VO4: “अब जॉनी के लिए 1 दहाई और 2 इकाई बनाइए।”</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Johny appears with the target 12.</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Child creates 1 tens rod and 2 ones cubes.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Child taps Check.</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VO5: “बहुत बढ़िया! जॉनी के 12 ब्लॉक्स भी तैयार हैं।”</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Correct blocks highlight.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VO6: “</a:t>
            </a:r>
            <a:r>
              <a:rPr lang="en-GB" sz="1200">
                <a:solidFill>
                  <a:schemeClr val="dk1"/>
                </a:solidFill>
                <a:latin typeface="Calibri"/>
                <a:ea typeface="Calibri"/>
                <a:cs typeface="Calibri"/>
                <a:sym typeface="Calibri"/>
              </a:rPr>
              <a:t>अब </a:t>
            </a:r>
            <a:r>
              <a:rPr lang="en-GB" sz="1200">
                <a:solidFill>
                  <a:schemeClr val="dk1"/>
                </a:solidFill>
                <a:latin typeface="Calibri"/>
                <a:ea typeface="Calibri"/>
                <a:cs typeface="Calibri"/>
                <a:sym typeface="Calibri"/>
              </a:rPr>
              <a:t>दोनों के ब्लॉक्स </a:t>
            </a:r>
            <a:r>
              <a:rPr lang="en-GB" sz="1200">
                <a:solidFill>
                  <a:schemeClr val="dk1"/>
                </a:solidFill>
                <a:latin typeface="Calibri"/>
                <a:ea typeface="Calibri"/>
                <a:cs typeface="Calibri"/>
                <a:sym typeface="Calibri"/>
              </a:rPr>
              <a:t>को जोड़ते है</a:t>
            </a:r>
            <a:r>
              <a:rPr lang="en-GB" sz="1200">
                <a:solidFill>
                  <a:schemeClr val="dk1"/>
                </a:solidFill>
                <a:latin typeface="Calibri"/>
                <a:ea typeface="Calibri"/>
                <a:cs typeface="Calibri"/>
                <a:sym typeface="Calibri"/>
              </a:rPr>
              <a:t>। पहले </a:t>
            </a:r>
            <a:r>
              <a:rPr lang="en-GB" sz="1200">
                <a:solidFill>
                  <a:schemeClr val="dk1"/>
                </a:solidFill>
                <a:latin typeface="Calibri"/>
                <a:ea typeface="Calibri"/>
                <a:cs typeface="Calibri"/>
                <a:sym typeface="Calibri"/>
              </a:rPr>
              <a:t>इकाई </a:t>
            </a:r>
            <a:r>
              <a:rPr lang="en-GB" sz="1200">
                <a:solidFill>
                  <a:schemeClr val="dk1"/>
                </a:solidFill>
                <a:latin typeface="Calibri"/>
                <a:ea typeface="Calibri"/>
                <a:cs typeface="Calibri"/>
                <a:sym typeface="Calibri"/>
              </a:rPr>
              <a:t>जोड़िए।”</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Bibi's 25 blocks appear in the first row.</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Johny's 12 blocks appear in the second row.</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Third row remains empty.</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Ones column highlights.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VO7: “5 इकाई और 2 इकाई जोड़िए।”</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Child adds 7 yellow cubes in the third row.</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Correct answer highlights.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VO8: “शाबाश! अब दहाइयाँ जोड़िए।”</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Child adds 3 green tens rods in the third row.</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Correct answer highlights.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VO9: “बहुत बढ़िया! 3 दहाई और 7 इकाई, यानी 37 ब्लॉक्स।”</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Third row shows 3 tens rods and 7 ones cubes.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- 25 + 12 = 37 appears.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VO10: “वाह! 37 ब्लॉक्स से बीबी और जॉनी की पहली एक्टिविटी पूरी हो गई!”</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Bibi and Johny complete their block-building activity.</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Success animation plays.</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अगली एक्टिविटी button appears.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VO11: “अब अगली एक्टिविटी शुरू करें!”</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New block requirements appear.</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The same gameplay repeats with new numbers.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Activity | Bibi | Johny | Total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 | ---- | ----- | -----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1        | 25   | 12    | 37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2        | 13   | 55    | 68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3        | 31   | 45    | 76    |</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4        | 42   | 46    | 88    |</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GB" sz="1200">
                <a:solidFill>
                  <a:schemeClr val="dk1"/>
                </a:solidFill>
                <a:latin typeface="Calibri"/>
                <a:ea typeface="Calibri"/>
                <a:cs typeface="Calibri"/>
                <a:sym typeface="Calibri"/>
              </a:rPr>
              <a:t>Common Feedback</a:t>
            </a:r>
            <a:r>
              <a:rPr lang="en-GB" sz="1200">
                <a:solidFill>
                  <a:schemeClr val="dk1"/>
                </a:solidFill>
                <a:latin typeface="Calibri"/>
                <a:ea typeface="Calibri"/>
                <a:cs typeface="Calibri"/>
                <a:sym typeface="Calibri"/>
              </a:rPr>
              <a: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VO12: “फिर से कोशिश कीजिए।”</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First incorrect attempt: Child retries.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VO13: “ब्लॉक्स ध्यान से गिनिए।”</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Second incorrect attempt: Relevant blocks highlight.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VO14: “देखिए, सही ब्लॉक्स ये हैं।”</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Third incorrect attempt: Correct blocks are demonstrated.</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Final Screen</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VO15: “शाबाश! आपने बीबी और जॉनी की सभी एक्टिविटी पूरी कर दीं!”</a:t>
            </a:r>
            <a:endParaRPr/>
          </a:p>
          <a:p>
            <a:pPr indent="0" lvl="0" marL="0" marR="0" rtl="0" algn="l">
              <a:spcBef>
                <a:spcPts val="0"/>
              </a:spcBef>
              <a:spcAft>
                <a:spcPts val="0"/>
              </a:spcAft>
              <a:buNone/>
            </a:pPr>
            <a:r>
              <a:rPr lang="en-GB" sz="1200">
                <a:solidFill>
                  <a:schemeClr val="dk1"/>
                </a:solidFill>
                <a:latin typeface="Calibri"/>
                <a:ea typeface="Calibri"/>
                <a:cs typeface="Calibri"/>
                <a:sym typeface="Calibri"/>
              </a:rPr>
              <a:t>- Both characters celebrate.</a:t>
            </a:r>
            <a:endParaRPr/>
          </a:p>
        </p:txBody>
      </p:sp>
      <p:pic>
        <p:nvPicPr>
          <p:cNvPr id="333" name="Google Shape;333;p17"/>
          <p:cNvPicPr preferRelativeResize="0"/>
          <p:nvPr/>
        </p:nvPicPr>
        <p:blipFill rotWithShape="1">
          <a:blip r:embed="rId4">
            <a:alphaModFix/>
          </a:blip>
          <a:srcRect b="50341" l="0" r="49644" t="0"/>
          <a:stretch/>
        </p:blipFill>
        <p:spPr>
          <a:xfrm>
            <a:off x="1043939" y="384573"/>
            <a:ext cx="2797753" cy="1552791"/>
          </a:xfrm>
          <a:prstGeom prst="rect">
            <a:avLst/>
          </a:prstGeom>
          <a:noFill/>
          <a:ln>
            <a:noFill/>
          </a:ln>
        </p:spPr>
      </p:pic>
      <p:pic>
        <p:nvPicPr>
          <p:cNvPr id="334" name="Google Shape;334;p17"/>
          <p:cNvPicPr preferRelativeResize="0"/>
          <p:nvPr/>
        </p:nvPicPr>
        <p:blipFill rotWithShape="1">
          <a:blip r:embed="rId4">
            <a:alphaModFix/>
          </a:blip>
          <a:srcRect b="50145" l="50245" r="0" t="0"/>
          <a:stretch/>
        </p:blipFill>
        <p:spPr>
          <a:xfrm>
            <a:off x="1043939" y="3723763"/>
            <a:ext cx="2797753" cy="1577752"/>
          </a:xfrm>
          <a:prstGeom prst="rect">
            <a:avLst/>
          </a:prstGeom>
          <a:noFill/>
          <a:ln>
            <a:noFill/>
          </a:ln>
        </p:spPr>
      </p:pic>
      <p:pic>
        <p:nvPicPr>
          <p:cNvPr id="335" name="Google Shape;335;p17"/>
          <p:cNvPicPr preferRelativeResize="0"/>
          <p:nvPr/>
        </p:nvPicPr>
        <p:blipFill rotWithShape="1">
          <a:blip r:embed="rId4">
            <a:alphaModFix/>
          </a:blip>
          <a:srcRect b="494" l="962" r="1" t="50440"/>
          <a:stretch/>
        </p:blipFill>
        <p:spPr>
          <a:xfrm>
            <a:off x="142240" y="5301515"/>
            <a:ext cx="5568891" cy="1552792"/>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18"/>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400">
                <a:solidFill>
                  <a:srgbClr val="0B3D8C"/>
                </a:solidFill>
                <a:latin typeface="Calibri"/>
                <a:ea typeface="Calibri"/>
                <a:cs typeface="Calibri"/>
                <a:sym typeface="Calibri"/>
              </a:rPr>
              <a:t>Page 14 · 14_CEL_CELEBRATION.png</a:t>
            </a:r>
            <a:endParaRPr/>
          </a:p>
        </p:txBody>
      </p:sp>
      <p:pic>
        <p:nvPicPr>
          <p:cNvPr descr="14_CEL_CELEBRATION.png" id="341" name="Google Shape;341;p18"/>
          <p:cNvPicPr preferRelativeResize="0"/>
          <p:nvPr/>
        </p:nvPicPr>
        <p:blipFill rotWithShape="1">
          <a:blip r:embed="rId3">
            <a:alphaModFix/>
          </a:blip>
          <a:srcRect b="0" l="0" r="0" t="0"/>
          <a:stretch/>
        </p:blipFill>
        <p:spPr>
          <a:xfrm>
            <a:off x="365760" y="731520"/>
            <a:ext cx="7680960" cy="3866341"/>
          </a:xfrm>
          <a:prstGeom prst="rect">
            <a:avLst/>
          </a:prstGeom>
          <a:noFill/>
          <a:ln>
            <a:noFill/>
          </a:ln>
        </p:spPr>
      </p:pic>
      <p:sp>
        <p:nvSpPr>
          <p:cNvPr id="342" name="Google Shape;342;p18"/>
          <p:cNvSpPr txBox="1"/>
          <p:nvPr/>
        </p:nvSpPr>
        <p:spPr>
          <a:xfrm>
            <a:off x="8229600" y="731520"/>
            <a:ext cx="3596335" cy="57607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GB"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GB" sz="1300">
                <a:solidFill>
                  <a:srgbClr val="1B2A44"/>
                </a:solidFill>
                <a:latin typeface="Calibri"/>
                <a:ea typeface="Calibri"/>
                <a:cs typeface="Calibri"/>
                <a:sym typeface="Calibri"/>
              </a:rPr>
              <a:t>• FINISH — 'शाबाश! … याद रखिए — जोड़ हमेशा इकाई से शुरू होता है।'</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